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nton" charset="1" panose="00000500000000000000"/>
      <p:regular r:id="rId17"/>
    </p:embeddedFont>
    <p:embeddedFont>
      <p:font typeface="Montserrat Bold" charset="1" panose="00000800000000000000"/>
      <p:regular r:id="rId18"/>
    </p:embeddedFont>
    <p:embeddedFont>
      <p:font typeface="Montserrat Medium" charset="1" panose="00000600000000000000"/>
      <p:regular r:id="rId19"/>
    </p:embeddedFont>
    <p:embeddedFont>
      <p:font typeface="Perandory" charset="1" panose="00000000000000000000"/>
      <p:regular r:id="rId20"/>
    </p:embeddedFont>
    <p:embeddedFont>
      <p:font typeface="The Seasons" charset="1" panose="00000000000000000000"/>
      <p:regular r:id="rId21"/>
    </p:embeddedFont>
    <p:embeddedFont>
      <p:font typeface="The Seasons Bold" charset="1" panose="00000000000000000000"/>
      <p:regular r:id="rId22"/>
    </p:embeddedFont>
    <p:embeddedFont>
      <p:font typeface="Shrikhand" charset="1" panose="02000000000000000000"/>
      <p:regular r:id="rId23"/>
    </p:embeddedFont>
    <p:embeddedFont>
      <p:font typeface="Times New Roman" charset="1" panose="020305020704050203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grpSp>
        <p:nvGrpSpPr>
          <p:cNvPr name="Group 2" id="2"/>
          <p:cNvGrpSpPr/>
          <p:nvPr/>
        </p:nvGrpSpPr>
        <p:grpSpPr>
          <a:xfrm rot="0">
            <a:off x="-1536959" y="314325"/>
            <a:ext cx="9658350" cy="96583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5DA8"/>
            </a:solidFill>
          </p:spPr>
        </p:sp>
        <p:sp>
          <p:nvSpPr>
            <p:cNvPr name="TextBox 4" id="4"/>
            <p:cNvSpPr txBox="true"/>
            <p:nvPr/>
          </p:nvSpPr>
          <p:spPr>
            <a:xfrm>
              <a:off x="76200" y="104775"/>
              <a:ext cx="660400" cy="631825"/>
            </a:xfrm>
            <a:prstGeom prst="rect">
              <a:avLst/>
            </a:prstGeom>
          </p:spPr>
          <p:txBody>
            <a:bodyPr anchor="ctr" rtlCol="false" tIns="50800" lIns="50800" bIns="50800" rIns="50800"/>
            <a:lstStyle/>
            <a:p>
              <a:pPr algn="ctr">
                <a:lnSpc>
                  <a:spcPts val="1563"/>
                </a:lnSpc>
              </a:pPr>
            </a:p>
          </p:txBody>
        </p:sp>
      </p:grpSp>
      <p:sp>
        <p:nvSpPr>
          <p:cNvPr name="Freeform 5" id="5"/>
          <p:cNvSpPr/>
          <p:nvPr/>
        </p:nvSpPr>
        <p:spPr>
          <a:xfrm flipH="false" flipV="false" rot="0">
            <a:off x="17259300" y="801623"/>
            <a:ext cx="486295" cy="4114800"/>
          </a:xfrm>
          <a:custGeom>
            <a:avLst/>
            <a:gdLst/>
            <a:ahLst/>
            <a:cxnLst/>
            <a:rect r="r" b="b" t="t" l="l"/>
            <a:pathLst>
              <a:path h="4114800" w="486295">
                <a:moveTo>
                  <a:pt x="0" y="0"/>
                </a:moveTo>
                <a:lnTo>
                  <a:pt x="486295" y="0"/>
                </a:lnTo>
                <a:lnTo>
                  <a:pt x="48629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032745" y="1113356"/>
            <a:ext cx="7315200" cy="691619"/>
          </a:xfrm>
          <a:custGeom>
            <a:avLst/>
            <a:gdLst/>
            <a:ahLst/>
            <a:cxnLst/>
            <a:rect r="r" b="b" t="t" l="l"/>
            <a:pathLst>
              <a:path h="691619" w="7315200">
                <a:moveTo>
                  <a:pt x="0" y="0"/>
                </a:moveTo>
                <a:lnTo>
                  <a:pt x="7315200" y="0"/>
                </a:lnTo>
                <a:lnTo>
                  <a:pt x="7315200" y="691619"/>
                </a:lnTo>
                <a:lnTo>
                  <a:pt x="0" y="6916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032745" y="7387072"/>
            <a:ext cx="6089796" cy="1871228"/>
          </a:xfrm>
          <a:custGeom>
            <a:avLst/>
            <a:gdLst/>
            <a:ahLst/>
            <a:cxnLst/>
            <a:rect r="r" b="b" t="t" l="l"/>
            <a:pathLst>
              <a:path h="1871228" w="6089796">
                <a:moveTo>
                  <a:pt x="0" y="0"/>
                </a:moveTo>
                <a:lnTo>
                  <a:pt x="6089796" y="0"/>
                </a:lnTo>
                <a:lnTo>
                  <a:pt x="6089796" y="1871228"/>
                </a:lnTo>
                <a:lnTo>
                  <a:pt x="0" y="18712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903154" y="2879844"/>
            <a:ext cx="5015292" cy="5574787"/>
          </a:xfrm>
          <a:custGeom>
            <a:avLst/>
            <a:gdLst/>
            <a:ahLst/>
            <a:cxnLst/>
            <a:rect r="r" b="b" t="t" l="l"/>
            <a:pathLst>
              <a:path h="5574787" w="5015292">
                <a:moveTo>
                  <a:pt x="0" y="0"/>
                </a:moveTo>
                <a:lnTo>
                  <a:pt x="5015291" y="0"/>
                </a:lnTo>
                <a:lnTo>
                  <a:pt x="5015291" y="5574787"/>
                </a:lnTo>
                <a:lnTo>
                  <a:pt x="0" y="55747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9032745" y="3087623"/>
            <a:ext cx="8269226" cy="3125949"/>
          </a:xfrm>
          <a:prstGeom prst="rect">
            <a:avLst/>
          </a:prstGeom>
        </p:spPr>
        <p:txBody>
          <a:bodyPr anchor="t" rtlCol="false" tIns="0" lIns="0" bIns="0" rIns="0">
            <a:spAutoFit/>
          </a:bodyPr>
          <a:lstStyle/>
          <a:p>
            <a:pPr algn="just">
              <a:lnSpc>
                <a:spcPts val="12065"/>
              </a:lnSpc>
              <a:spcBef>
                <a:spcPct val="0"/>
              </a:spcBef>
            </a:pPr>
            <a:r>
              <a:rPr lang="en-US" sz="12065">
                <a:solidFill>
                  <a:srgbClr val="5555AB"/>
                </a:solidFill>
                <a:latin typeface="Anton"/>
                <a:ea typeface="Anton"/>
                <a:cs typeface="Anton"/>
                <a:sym typeface="Anton"/>
              </a:rPr>
              <a:t>KLH LOST AND FOUND APP</a:t>
            </a:r>
          </a:p>
        </p:txBody>
      </p:sp>
      <p:sp>
        <p:nvSpPr>
          <p:cNvPr name="TextBox 10" id="10"/>
          <p:cNvSpPr txBox="true"/>
          <p:nvPr/>
        </p:nvSpPr>
        <p:spPr>
          <a:xfrm rot="0">
            <a:off x="9144000" y="6482396"/>
            <a:ext cx="6904089" cy="237859"/>
          </a:xfrm>
          <a:prstGeom prst="rect">
            <a:avLst/>
          </a:prstGeom>
        </p:spPr>
        <p:txBody>
          <a:bodyPr anchor="t" rtlCol="false" tIns="0" lIns="0" bIns="0" rIns="0">
            <a:spAutoFit/>
          </a:bodyPr>
          <a:lstStyle/>
          <a:p>
            <a:pPr algn="l">
              <a:lnSpc>
                <a:spcPts val="1863"/>
              </a:lnSpc>
              <a:spcBef>
                <a:spcPct val="0"/>
              </a:spcBef>
            </a:pPr>
            <a:r>
              <a:rPr lang="en-US" b="true" sz="1863">
                <a:solidFill>
                  <a:srgbClr val="333A88"/>
                </a:solidFill>
                <a:latin typeface="Montserrat Bold"/>
                <a:ea typeface="Montserrat Bold"/>
                <a:cs typeface="Montserrat Bold"/>
                <a:sym typeface="Montserrat Bold"/>
              </a:rPr>
              <a:t>ENSURING SMOOTH OPERATION AND LONGEVITY</a:t>
            </a:r>
          </a:p>
        </p:txBody>
      </p:sp>
      <p:sp>
        <p:nvSpPr>
          <p:cNvPr name="TextBox 11" id="11"/>
          <p:cNvSpPr txBox="true"/>
          <p:nvPr/>
        </p:nvSpPr>
        <p:spPr>
          <a:xfrm rot="0">
            <a:off x="9931021" y="8228841"/>
            <a:ext cx="3907056" cy="225749"/>
          </a:xfrm>
          <a:prstGeom prst="rect">
            <a:avLst/>
          </a:prstGeom>
        </p:spPr>
        <p:txBody>
          <a:bodyPr anchor="t" rtlCol="false" tIns="0" lIns="0" bIns="0" rIns="0">
            <a:spAutoFit/>
          </a:bodyPr>
          <a:lstStyle/>
          <a:p>
            <a:pPr algn="l">
              <a:lnSpc>
                <a:spcPts val="1763"/>
              </a:lnSpc>
              <a:spcBef>
                <a:spcPct val="0"/>
              </a:spcBef>
            </a:pPr>
            <a:r>
              <a:rPr lang="en-US" b="true" sz="1763">
                <a:solidFill>
                  <a:srgbClr val="5555AB"/>
                </a:solidFill>
                <a:latin typeface="Montserrat Bold"/>
                <a:ea typeface="Montserrat Bold"/>
                <a:cs typeface="Montserrat Bold"/>
                <a:sym typeface="Montserrat Bold"/>
              </a:rPr>
              <a:t>WWW.LOSTANDFOUND.COM</a:t>
            </a:r>
          </a:p>
        </p:txBody>
      </p:sp>
      <p:sp>
        <p:nvSpPr>
          <p:cNvPr name="TextBox 12" id="12"/>
          <p:cNvSpPr txBox="true"/>
          <p:nvPr/>
        </p:nvSpPr>
        <p:spPr>
          <a:xfrm rot="0">
            <a:off x="10117846" y="1365320"/>
            <a:ext cx="3049512" cy="225749"/>
          </a:xfrm>
          <a:prstGeom prst="rect">
            <a:avLst/>
          </a:prstGeom>
        </p:spPr>
        <p:txBody>
          <a:bodyPr anchor="t" rtlCol="false" tIns="0" lIns="0" bIns="0" rIns="0">
            <a:spAutoFit/>
          </a:bodyPr>
          <a:lstStyle/>
          <a:p>
            <a:pPr algn="l">
              <a:lnSpc>
                <a:spcPts val="1763"/>
              </a:lnSpc>
              <a:spcBef>
                <a:spcPct val="0"/>
              </a:spcBef>
            </a:pPr>
            <a:r>
              <a:rPr lang="en-US" b="true" sz="1763">
                <a:solidFill>
                  <a:srgbClr val="FFFFFF"/>
                </a:solidFill>
                <a:latin typeface="Montserrat Bold"/>
                <a:ea typeface="Montserrat Bold"/>
                <a:cs typeface="Montserrat Bold"/>
                <a:sym typeface="Montserrat Bold"/>
              </a:rPr>
              <a:t>LOST AND FOUND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true" flipV="false" rot="0">
            <a:off x="-120935" y="9258300"/>
            <a:ext cx="734258" cy="1187583"/>
          </a:xfrm>
          <a:custGeom>
            <a:avLst/>
            <a:gdLst/>
            <a:ahLst/>
            <a:cxnLst/>
            <a:rect r="r" b="b" t="t" l="l"/>
            <a:pathLst>
              <a:path h="1187583" w="734258">
                <a:moveTo>
                  <a:pt x="734259" y="0"/>
                </a:moveTo>
                <a:lnTo>
                  <a:pt x="0" y="0"/>
                </a:lnTo>
                <a:lnTo>
                  <a:pt x="0" y="1187583"/>
                </a:lnTo>
                <a:lnTo>
                  <a:pt x="734259" y="1187583"/>
                </a:lnTo>
                <a:lnTo>
                  <a:pt x="7342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884" y="3947393"/>
            <a:ext cx="2541169" cy="2476071"/>
          </a:xfrm>
          <a:custGeom>
            <a:avLst/>
            <a:gdLst/>
            <a:ahLst/>
            <a:cxnLst/>
            <a:rect r="r" b="b" t="t" l="l"/>
            <a:pathLst>
              <a:path h="2476071" w="2541169">
                <a:moveTo>
                  <a:pt x="0" y="0"/>
                </a:moveTo>
                <a:lnTo>
                  <a:pt x="2541168" y="0"/>
                </a:lnTo>
                <a:lnTo>
                  <a:pt x="2541168" y="2476072"/>
                </a:lnTo>
                <a:lnTo>
                  <a:pt x="0" y="2476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732690" y="2834874"/>
            <a:ext cx="6486924" cy="5201334"/>
          </a:xfrm>
          <a:custGeom>
            <a:avLst/>
            <a:gdLst/>
            <a:ahLst/>
            <a:cxnLst/>
            <a:rect r="r" b="b" t="t" l="l"/>
            <a:pathLst>
              <a:path h="5201334" w="6486924">
                <a:moveTo>
                  <a:pt x="0" y="0"/>
                </a:moveTo>
                <a:lnTo>
                  <a:pt x="6486924" y="0"/>
                </a:lnTo>
                <a:lnTo>
                  <a:pt x="6486924" y="5201334"/>
                </a:lnTo>
                <a:lnTo>
                  <a:pt x="0" y="52013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4352167" y="9191324"/>
            <a:ext cx="2547340" cy="153002"/>
          </a:xfrm>
          <a:prstGeom prst="rect">
            <a:avLst/>
          </a:prstGeom>
        </p:spPr>
        <p:txBody>
          <a:bodyPr anchor="t" rtlCol="false" tIns="0" lIns="0" bIns="0" rIns="0">
            <a:spAutoFit/>
          </a:bodyPr>
          <a:lstStyle/>
          <a:p>
            <a:pPr algn="l">
              <a:lnSpc>
                <a:spcPts val="1149"/>
              </a:lnSpc>
              <a:spcBef>
                <a:spcPct val="0"/>
              </a:spcBef>
            </a:pPr>
            <a:r>
              <a:rPr lang="en-US" b="true" sz="1149">
                <a:solidFill>
                  <a:srgbClr val="5555AB"/>
                </a:solidFill>
                <a:latin typeface="Montserrat Bold"/>
                <a:ea typeface="Montserrat Bold"/>
                <a:cs typeface="Montserrat Bold"/>
                <a:sym typeface="Montserrat Bold"/>
              </a:rPr>
              <a:t>WWW.REALLYGREATSITE.COM</a:t>
            </a:r>
          </a:p>
        </p:txBody>
      </p:sp>
      <p:sp>
        <p:nvSpPr>
          <p:cNvPr name="TextBox 7" id="7"/>
          <p:cNvSpPr txBox="true"/>
          <p:nvPr/>
        </p:nvSpPr>
        <p:spPr>
          <a:xfrm rot="0">
            <a:off x="2684853" y="3171154"/>
            <a:ext cx="5480231" cy="1060700"/>
          </a:xfrm>
          <a:prstGeom prst="rect">
            <a:avLst/>
          </a:prstGeom>
        </p:spPr>
        <p:txBody>
          <a:bodyPr anchor="t" rtlCol="false" tIns="0" lIns="0" bIns="0" rIns="0">
            <a:spAutoFit/>
          </a:bodyPr>
          <a:lstStyle/>
          <a:p>
            <a:pPr algn="just">
              <a:lnSpc>
                <a:spcPts val="7996"/>
              </a:lnSpc>
              <a:spcBef>
                <a:spcPct val="0"/>
              </a:spcBef>
            </a:pPr>
            <a:r>
              <a:rPr lang="en-US" sz="7996">
                <a:solidFill>
                  <a:srgbClr val="5555AB"/>
                </a:solidFill>
                <a:latin typeface="Anton"/>
                <a:ea typeface="Anton"/>
                <a:cs typeface="Anton"/>
                <a:sym typeface="Anton"/>
              </a:rPr>
              <a:t>ABOUT US</a:t>
            </a:r>
          </a:p>
        </p:txBody>
      </p:sp>
      <p:sp>
        <p:nvSpPr>
          <p:cNvPr name="TextBox 8" id="8"/>
          <p:cNvSpPr txBox="true"/>
          <p:nvPr/>
        </p:nvSpPr>
        <p:spPr>
          <a:xfrm rot="0">
            <a:off x="2547607" y="4798185"/>
            <a:ext cx="8185083" cy="4736795"/>
          </a:xfrm>
          <a:prstGeom prst="rect">
            <a:avLst/>
          </a:prstGeom>
        </p:spPr>
        <p:txBody>
          <a:bodyPr anchor="t" rtlCol="false" tIns="0" lIns="0" bIns="0" rIns="0">
            <a:spAutoFit/>
          </a:bodyPr>
          <a:lstStyle/>
          <a:p>
            <a:pPr algn="l">
              <a:lnSpc>
                <a:spcPts val="2336"/>
              </a:lnSpc>
            </a:pPr>
            <a:r>
              <a:rPr lang="en-US" sz="1963" b="true">
                <a:solidFill>
                  <a:srgbClr val="484FA2"/>
                </a:solidFill>
                <a:latin typeface="Montserrat Medium"/>
                <a:ea typeface="Montserrat Medium"/>
                <a:cs typeface="Montserrat Medium"/>
                <a:sym typeface="Montserrat Medium"/>
              </a:rPr>
              <a:t> Lost and Found Web Application, a platform designed to simplify the process of reporting, locating, and reclaiming lost items. The application enables users to upload images of found items, making it easier for the rightful owners to identify and claim their belongings. It also allows for detailed reporting of lost items, providing comprehensive descriptions to help others recognize and return them. Unclaimed items are placed in a timed auction, offering an opportunity for these items to find new owners if not reclaimed within a specified period. To ensure security and authenticity, users must log in using their college IDs, creating a safe environment for all participants. This comprehensive platform streamlines the management of lost and found items while ensuring a secure and user-friendly experience for everyone involved.</a:t>
            </a:r>
          </a:p>
          <a:p>
            <a:pPr algn="l">
              <a:lnSpc>
                <a:spcPts val="2336"/>
              </a:lnSpc>
            </a:pPr>
          </a:p>
          <a:p>
            <a:pPr algn="l">
              <a:lnSpc>
                <a:spcPts val="233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true" flipV="false" rot="0">
            <a:off x="-120935" y="9258300"/>
            <a:ext cx="734258" cy="1187583"/>
          </a:xfrm>
          <a:custGeom>
            <a:avLst/>
            <a:gdLst/>
            <a:ahLst/>
            <a:cxnLst/>
            <a:rect r="r" b="b" t="t" l="l"/>
            <a:pathLst>
              <a:path h="1187583" w="734258">
                <a:moveTo>
                  <a:pt x="734259" y="0"/>
                </a:moveTo>
                <a:lnTo>
                  <a:pt x="0" y="0"/>
                </a:lnTo>
                <a:lnTo>
                  <a:pt x="0" y="1187583"/>
                </a:lnTo>
                <a:lnTo>
                  <a:pt x="734259" y="1187583"/>
                </a:lnTo>
                <a:lnTo>
                  <a:pt x="7342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261" y="3295458"/>
            <a:ext cx="2541169" cy="2476071"/>
          </a:xfrm>
          <a:custGeom>
            <a:avLst/>
            <a:gdLst/>
            <a:ahLst/>
            <a:cxnLst/>
            <a:rect r="r" b="b" t="t" l="l"/>
            <a:pathLst>
              <a:path h="2476071" w="2541169">
                <a:moveTo>
                  <a:pt x="0" y="0"/>
                </a:moveTo>
                <a:lnTo>
                  <a:pt x="2541169" y="0"/>
                </a:lnTo>
                <a:lnTo>
                  <a:pt x="2541169" y="2476072"/>
                </a:lnTo>
                <a:lnTo>
                  <a:pt x="0" y="2476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613324" y="788401"/>
            <a:ext cx="12044389" cy="1060726"/>
          </a:xfrm>
          <a:prstGeom prst="rect">
            <a:avLst/>
          </a:prstGeom>
        </p:spPr>
        <p:txBody>
          <a:bodyPr anchor="t" rtlCol="false" tIns="0" lIns="0" bIns="0" rIns="0">
            <a:spAutoFit/>
          </a:bodyPr>
          <a:lstStyle/>
          <a:p>
            <a:pPr algn="just">
              <a:lnSpc>
                <a:spcPts val="7996"/>
              </a:lnSpc>
              <a:spcBef>
                <a:spcPct val="0"/>
              </a:spcBef>
            </a:pPr>
            <a:r>
              <a:rPr lang="en-US" sz="7996">
                <a:solidFill>
                  <a:srgbClr val="5555AB"/>
                </a:solidFill>
                <a:latin typeface="Anton"/>
                <a:ea typeface="Anton"/>
                <a:cs typeface="Anton"/>
                <a:sym typeface="Anton"/>
              </a:rPr>
              <a:t>SURVEY OF EXISTING WEBSITES</a:t>
            </a:r>
          </a:p>
        </p:txBody>
      </p:sp>
      <p:sp>
        <p:nvSpPr>
          <p:cNvPr name="TextBox 6" id="6"/>
          <p:cNvSpPr txBox="true"/>
          <p:nvPr/>
        </p:nvSpPr>
        <p:spPr>
          <a:xfrm rot="0">
            <a:off x="3400733" y="3304983"/>
            <a:ext cx="13281789" cy="3893327"/>
          </a:xfrm>
          <a:prstGeom prst="rect">
            <a:avLst/>
          </a:prstGeom>
        </p:spPr>
        <p:txBody>
          <a:bodyPr anchor="t" rtlCol="false" tIns="0" lIns="0" bIns="0" rIns="0">
            <a:spAutoFit/>
          </a:bodyPr>
          <a:lstStyle/>
          <a:p>
            <a:pPr algn="l">
              <a:lnSpc>
                <a:spcPts val="3090"/>
              </a:lnSpc>
            </a:pPr>
            <a:r>
              <a:rPr lang="en-US" sz="2597" b="true">
                <a:solidFill>
                  <a:srgbClr val="484FA2"/>
                </a:solidFill>
                <a:latin typeface="Montserrat Medium"/>
                <a:ea typeface="Montserrat Medium"/>
                <a:cs typeface="Montserrat Medium"/>
                <a:sym typeface="Montserrat Medium"/>
              </a:rPr>
              <a:t>Limitations :</a:t>
            </a:r>
          </a:p>
          <a:p>
            <a:pPr algn="l">
              <a:lnSpc>
                <a:spcPts val="3090"/>
              </a:lnSpc>
            </a:pPr>
          </a:p>
          <a:p>
            <a:pPr algn="l">
              <a:lnSpc>
                <a:spcPts val="3090"/>
              </a:lnSpc>
            </a:pPr>
            <a:r>
              <a:rPr lang="en-US" sz="2597" b="true">
                <a:solidFill>
                  <a:srgbClr val="484FA2"/>
                </a:solidFill>
                <a:latin typeface="Montserrat Medium"/>
                <a:ea typeface="Montserrat Medium"/>
                <a:cs typeface="Montserrat Medium"/>
                <a:sym typeface="Montserrat Medium"/>
              </a:rPr>
              <a:t>Not Widely Known: Less exposure and user base compared to your app, which could gain popularity within the college community.</a:t>
            </a:r>
          </a:p>
          <a:p>
            <a:pPr algn="l">
              <a:lnSpc>
                <a:spcPts val="3090"/>
              </a:lnSpc>
            </a:pPr>
          </a:p>
          <a:p>
            <a:pPr algn="l">
              <a:lnSpc>
                <a:spcPts val="3090"/>
              </a:lnSpc>
            </a:pPr>
            <a:r>
              <a:rPr lang="en-US" sz="2597" b="true">
                <a:solidFill>
                  <a:srgbClr val="484FA2"/>
                </a:solidFill>
                <a:latin typeface="Montserrat Medium"/>
                <a:ea typeface="Montserrat Medium"/>
                <a:cs typeface="Montserrat Medium"/>
                <a:sym typeface="Montserrat Medium"/>
              </a:rPr>
              <a:t>Simplistic Visuals: Your app could offer a more visually appealing and user-friendly interface.</a:t>
            </a:r>
          </a:p>
          <a:p>
            <a:pPr algn="l">
              <a:lnSpc>
                <a:spcPts val="3090"/>
              </a:lnSpc>
            </a:pPr>
          </a:p>
          <a:p>
            <a:pPr algn="l">
              <a:lnSpc>
                <a:spcPts val="3090"/>
              </a:lnSpc>
            </a:pPr>
            <a:r>
              <a:rPr lang="en-US" sz="2597" b="true">
                <a:solidFill>
                  <a:srgbClr val="484FA2"/>
                </a:solidFill>
                <a:latin typeface="Montserrat Medium"/>
                <a:ea typeface="Montserrat Medium"/>
                <a:cs typeface="Montserrat Medium"/>
                <a:sym typeface="Montserrat Medium"/>
              </a:rPr>
              <a:t>Web-Only Access: Again, limited to web-based access, while your app could provide a seamless experience across devices</a:t>
            </a:r>
          </a:p>
        </p:txBody>
      </p:sp>
      <p:sp>
        <p:nvSpPr>
          <p:cNvPr name="TextBox 7" id="7"/>
          <p:cNvSpPr txBox="true"/>
          <p:nvPr/>
        </p:nvSpPr>
        <p:spPr>
          <a:xfrm rot="0">
            <a:off x="3400733" y="2535128"/>
            <a:ext cx="12044389" cy="613983"/>
          </a:xfrm>
          <a:prstGeom prst="rect">
            <a:avLst/>
          </a:prstGeom>
        </p:spPr>
        <p:txBody>
          <a:bodyPr anchor="t" rtlCol="false" tIns="0" lIns="0" bIns="0" rIns="0">
            <a:spAutoFit/>
          </a:bodyPr>
          <a:lstStyle/>
          <a:p>
            <a:pPr algn="just">
              <a:lnSpc>
                <a:spcPts val="4296"/>
              </a:lnSpc>
              <a:spcBef>
                <a:spcPct val="0"/>
              </a:spcBef>
            </a:pPr>
            <a:r>
              <a:rPr lang="en-US" sz="4296">
                <a:solidFill>
                  <a:srgbClr val="5555AB"/>
                </a:solidFill>
                <a:latin typeface="Perandory"/>
                <a:ea typeface="Perandory"/>
                <a:cs typeface="Perandory"/>
                <a:sym typeface="Perandory"/>
              </a:rPr>
              <a:t>TROOV</a:t>
            </a:r>
          </a:p>
        </p:txBody>
      </p:sp>
      <p:sp>
        <p:nvSpPr>
          <p:cNvPr name="TextBox 8" id="8"/>
          <p:cNvSpPr txBox="true"/>
          <p:nvPr/>
        </p:nvSpPr>
        <p:spPr>
          <a:xfrm rot="0">
            <a:off x="3400733" y="7855535"/>
            <a:ext cx="8154561" cy="383729"/>
          </a:xfrm>
          <a:prstGeom prst="rect">
            <a:avLst/>
          </a:prstGeom>
        </p:spPr>
        <p:txBody>
          <a:bodyPr anchor="t" rtlCol="false" tIns="0" lIns="0" bIns="0" rIns="0">
            <a:spAutoFit/>
          </a:bodyPr>
          <a:lstStyle/>
          <a:p>
            <a:pPr algn="l">
              <a:lnSpc>
                <a:spcPts val="3090"/>
              </a:lnSpc>
            </a:pPr>
            <a:r>
              <a:rPr lang="en-US" sz="2597" b="true">
                <a:solidFill>
                  <a:srgbClr val="484FA2"/>
                </a:solidFill>
                <a:latin typeface="Montserrat Medium"/>
                <a:ea typeface="Montserrat Medium"/>
                <a:cs typeface="Montserrat Medium"/>
                <a:sym typeface="Montserrat Medium"/>
              </a:rPr>
              <a:t>https://troov.app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true" flipV="false" rot="0">
            <a:off x="-120935" y="9258300"/>
            <a:ext cx="734258" cy="1187583"/>
          </a:xfrm>
          <a:custGeom>
            <a:avLst/>
            <a:gdLst/>
            <a:ahLst/>
            <a:cxnLst/>
            <a:rect r="r" b="b" t="t" l="l"/>
            <a:pathLst>
              <a:path h="1187583" w="734258">
                <a:moveTo>
                  <a:pt x="734259" y="0"/>
                </a:moveTo>
                <a:lnTo>
                  <a:pt x="0" y="0"/>
                </a:lnTo>
                <a:lnTo>
                  <a:pt x="0" y="1187583"/>
                </a:lnTo>
                <a:lnTo>
                  <a:pt x="734259" y="1187583"/>
                </a:lnTo>
                <a:lnTo>
                  <a:pt x="7342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261" y="3295458"/>
            <a:ext cx="2541169" cy="2476071"/>
          </a:xfrm>
          <a:custGeom>
            <a:avLst/>
            <a:gdLst/>
            <a:ahLst/>
            <a:cxnLst/>
            <a:rect r="r" b="b" t="t" l="l"/>
            <a:pathLst>
              <a:path h="2476071" w="2541169">
                <a:moveTo>
                  <a:pt x="0" y="0"/>
                </a:moveTo>
                <a:lnTo>
                  <a:pt x="2541169" y="0"/>
                </a:lnTo>
                <a:lnTo>
                  <a:pt x="2541169" y="2476072"/>
                </a:lnTo>
                <a:lnTo>
                  <a:pt x="0" y="2476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796974" y="3941531"/>
            <a:ext cx="13626155" cy="3603978"/>
          </a:xfrm>
          <a:prstGeom prst="rect">
            <a:avLst/>
          </a:prstGeom>
        </p:spPr>
        <p:txBody>
          <a:bodyPr anchor="t" rtlCol="false" tIns="0" lIns="0" bIns="0" rIns="0">
            <a:spAutoFit/>
          </a:bodyPr>
          <a:lstStyle/>
          <a:p>
            <a:pPr algn="l">
              <a:lnSpc>
                <a:spcPts val="3171"/>
              </a:lnSpc>
            </a:pPr>
            <a:r>
              <a:rPr lang="en-US" sz="2664" b="true">
                <a:solidFill>
                  <a:srgbClr val="484FA2"/>
                </a:solidFill>
                <a:latin typeface="Montserrat Medium"/>
                <a:ea typeface="Montserrat Medium"/>
                <a:cs typeface="Montserrat Medium"/>
                <a:sym typeface="Montserrat Medium"/>
              </a:rPr>
              <a:t>Widget Embedding: Requires embedding a widget into an existing website for customer reporting, while your app offers a standalone solution.</a:t>
            </a:r>
          </a:p>
          <a:p>
            <a:pPr algn="l">
              <a:lnSpc>
                <a:spcPts val="3171"/>
              </a:lnSpc>
            </a:pPr>
          </a:p>
          <a:p>
            <a:pPr algn="l">
              <a:lnSpc>
                <a:spcPts val="3171"/>
              </a:lnSpc>
            </a:pPr>
            <a:r>
              <a:rPr lang="en-US" sz="2664" b="true">
                <a:solidFill>
                  <a:srgbClr val="484FA2"/>
                </a:solidFill>
                <a:latin typeface="Montserrat Medium"/>
                <a:ea typeface="Montserrat Medium"/>
                <a:cs typeface="Montserrat Medium"/>
                <a:sym typeface="Montserrat Medium"/>
              </a:rPr>
              <a:t>Manual Logging: Time-consuming manual logging of reports, while your app could streamline the process with automated functionalities.</a:t>
            </a:r>
          </a:p>
          <a:p>
            <a:pPr algn="l">
              <a:lnSpc>
                <a:spcPts val="3171"/>
              </a:lnSpc>
            </a:pPr>
          </a:p>
          <a:p>
            <a:pPr algn="l">
              <a:lnSpc>
                <a:spcPts val="3171"/>
              </a:lnSpc>
            </a:pPr>
            <a:r>
              <a:rPr lang="en-US" sz="2664" b="true">
                <a:solidFill>
                  <a:srgbClr val="484FA2"/>
                </a:solidFill>
                <a:latin typeface="Montserrat Medium"/>
                <a:ea typeface="Montserrat Medium"/>
                <a:cs typeface="Montserrat Medium"/>
                <a:sym typeface="Montserrat Medium"/>
              </a:rPr>
              <a:t>Web-Only Access: Limited to web-based access, whereas your app could be designed for better mobile responsiveness.</a:t>
            </a:r>
          </a:p>
          <a:p>
            <a:pPr algn="l">
              <a:lnSpc>
                <a:spcPts val="3171"/>
              </a:lnSpc>
            </a:pPr>
          </a:p>
        </p:txBody>
      </p:sp>
      <p:sp>
        <p:nvSpPr>
          <p:cNvPr name="TextBox 6" id="6"/>
          <p:cNvSpPr txBox="true"/>
          <p:nvPr/>
        </p:nvSpPr>
        <p:spPr>
          <a:xfrm rot="0">
            <a:off x="2796974" y="2179603"/>
            <a:ext cx="12044389" cy="707899"/>
          </a:xfrm>
          <a:prstGeom prst="rect">
            <a:avLst/>
          </a:prstGeom>
        </p:spPr>
        <p:txBody>
          <a:bodyPr anchor="t" rtlCol="false" tIns="0" lIns="0" bIns="0" rIns="0">
            <a:spAutoFit/>
          </a:bodyPr>
          <a:lstStyle/>
          <a:p>
            <a:pPr algn="just">
              <a:lnSpc>
                <a:spcPts val="4996"/>
              </a:lnSpc>
              <a:spcBef>
                <a:spcPct val="0"/>
              </a:spcBef>
            </a:pPr>
            <a:r>
              <a:rPr lang="en-US" sz="4996">
                <a:solidFill>
                  <a:srgbClr val="5555AB"/>
                </a:solidFill>
                <a:latin typeface="Perandory"/>
                <a:ea typeface="Perandory"/>
                <a:cs typeface="Perandory"/>
                <a:sym typeface="Perandory"/>
              </a:rPr>
              <a:t>RECLAIMHUB:</a:t>
            </a:r>
          </a:p>
        </p:txBody>
      </p:sp>
      <p:sp>
        <p:nvSpPr>
          <p:cNvPr name="TextBox 7" id="7"/>
          <p:cNvSpPr txBox="true"/>
          <p:nvPr/>
        </p:nvSpPr>
        <p:spPr>
          <a:xfrm rot="0">
            <a:off x="2796974" y="7751572"/>
            <a:ext cx="13626155" cy="403450"/>
          </a:xfrm>
          <a:prstGeom prst="rect">
            <a:avLst/>
          </a:prstGeom>
        </p:spPr>
        <p:txBody>
          <a:bodyPr anchor="t" rtlCol="false" tIns="0" lIns="0" bIns="0" rIns="0">
            <a:spAutoFit/>
          </a:bodyPr>
          <a:lstStyle/>
          <a:p>
            <a:pPr algn="l">
              <a:lnSpc>
                <a:spcPts val="3171"/>
              </a:lnSpc>
            </a:pPr>
            <a:r>
              <a:rPr lang="en-US" sz="2664" b="true">
                <a:solidFill>
                  <a:srgbClr val="484FA2"/>
                </a:solidFill>
                <a:latin typeface="Montserrat Medium"/>
                <a:ea typeface="Montserrat Medium"/>
                <a:cs typeface="Montserrat Medium"/>
                <a:sym typeface="Montserrat Medium"/>
              </a:rPr>
              <a:t>https://reclaimhub.com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true" flipV="false" rot="0">
            <a:off x="-120935" y="9258300"/>
            <a:ext cx="734258" cy="1187583"/>
          </a:xfrm>
          <a:custGeom>
            <a:avLst/>
            <a:gdLst/>
            <a:ahLst/>
            <a:cxnLst/>
            <a:rect r="r" b="b" t="t" l="l"/>
            <a:pathLst>
              <a:path h="1187583" w="734258">
                <a:moveTo>
                  <a:pt x="734259" y="0"/>
                </a:moveTo>
                <a:lnTo>
                  <a:pt x="0" y="0"/>
                </a:lnTo>
                <a:lnTo>
                  <a:pt x="0" y="1187583"/>
                </a:lnTo>
                <a:lnTo>
                  <a:pt x="734259" y="1187583"/>
                </a:lnTo>
                <a:lnTo>
                  <a:pt x="7342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7261" y="3295458"/>
            <a:ext cx="2541169" cy="2476071"/>
          </a:xfrm>
          <a:custGeom>
            <a:avLst/>
            <a:gdLst/>
            <a:ahLst/>
            <a:cxnLst/>
            <a:rect r="r" b="b" t="t" l="l"/>
            <a:pathLst>
              <a:path h="2476071" w="2541169">
                <a:moveTo>
                  <a:pt x="0" y="0"/>
                </a:moveTo>
                <a:lnTo>
                  <a:pt x="2541169" y="0"/>
                </a:lnTo>
                <a:lnTo>
                  <a:pt x="2541169" y="2476072"/>
                </a:lnTo>
                <a:lnTo>
                  <a:pt x="0" y="2476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796974" y="3941531"/>
            <a:ext cx="13626155" cy="3203912"/>
          </a:xfrm>
          <a:prstGeom prst="rect">
            <a:avLst/>
          </a:prstGeom>
        </p:spPr>
        <p:txBody>
          <a:bodyPr anchor="t" rtlCol="false" tIns="0" lIns="0" bIns="0" rIns="0">
            <a:spAutoFit/>
          </a:bodyPr>
          <a:lstStyle/>
          <a:p>
            <a:pPr algn="l">
              <a:lnSpc>
                <a:spcPts val="3171"/>
              </a:lnSpc>
            </a:pPr>
            <a:r>
              <a:rPr lang="en-US" sz="2664" b="true">
                <a:solidFill>
                  <a:srgbClr val="484FA2"/>
                </a:solidFill>
                <a:latin typeface="Montserrat Medium"/>
                <a:ea typeface="Montserrat Medium"/>
                <a:cs typeface="Montserrat Medium"/>
                <a:sym typeface="Montserrat Medium"/>
              </a:rPr>
              <a:t>Limited Use Cases: Focuses on specific types of losses like speculative business and racehorse maintenance, while your app serves a broader purpose.</a:t>
            </a:r>
          </a:p>
          <a:p>
            <a:pPr algn="l">
              <a:lnSpc>
                <a:spcPts val="3171"/>
              </a:lnSpc>
            </a:pPr>
          </a:p>
          <a:p>
            <a:pPr algn="l">
              <a:lnSpc>
                <a:spcPts val="3171"/>
              </a:lnSpc>
            </a:pPr>
            <a:r>
              <a:rPr lang="en-US" sz="2664" b="true">
                <a:solidFill>
                  <a:srgbClr val="484FA2"/>
                </a:solidFill>
                <a:latin typeface="Montserrat Medium"/>
                <a:ea typeface="Montserrat Medium"/>
                <a:cs typeface="Montserrat Medium"/>
                <a:sym typeface="Montserrat Medium"/>
              </a:rPr>
              <a:t>Restrictive Carry-Forward Options: Your app's auction feature provides an innovative way to handle unclaimed items, making it more versatile.</a:t>
            </a:r>
          </a:p>
          <a:p>
            <a:pPr algn="l">
              <a:lnSpc>
                <a:spcPts val="3171"/>
              </a:lnSpc>
            </a:pPr>
          </a:p>
          <a:p>
            <a:pPr algn="l">
              <a:lnSpc>
                <a:spcPts val="3171"/>
              </a:lnSpc>
            </a:pPr>
            <a:r>
              <a:rPr lang="en-US" sz="2664" b="true">
                <a:solidFill>
                  <a:srgbClr val="484FA2"/>
                </a:solidFill>
                <a:latin typeface="Montserrat Medium"/>
                <a:ea typeface="Montserrat Medium"/>
                <a:cs typeface="Montserrat Medium"/>
                <a:sym typeface="Montserrat Medium"/>
              </a:rPr>
              <a:t>General User Accounts: Lacks the tailored college ID-based login, making it less secure and personalized for college environments.</a:t>
            </a:r>
          </a:p>
        </p:txBody>
      </p:sp>
      <p:sp>
        <p:nvSpPr>
          <p:cNvPr name="TextBox 6" id="6"/>
          <p:cNvSpPr txBox="true"/>
          <p:nvPr/>
        </p:nvSpPr>
        <p:spPr>
          <a:xfrm rot="0">
            <a:off x="2796974" y="2179603"/>
            <a:ext cx="12044389" cy="707899"/>
          </a:xfrm>
          <a:prstGeom prst="rect">
            <a:avLst/>
          </a:prstGeom>
        </p:spPr>
        <p:txBody>
          <a:bodyPr anchor="t" rtlCol="false" tIns="0" lIns="0" bIns="0" rIns="0">
            <a:spAutoFit/>
          </a:bodyPr>
          <a:lstStyle/>
          <a:p>
            <a:pPr algn="just">
              <a:lnSpc>
                <a:spcPts val="4996"/>
              </a:lnSpc>
              <a:spcBef>
                <a:spcPct val="0"/>
              </a:spcBef>
            </a:pPr>
            <a:r>
              <a:rPr lang="en-US" sz="4996">
                <a:solidFill>
                  <a:srgbClr val="5555AB"/>
                </a:solidFill>
                <a:latin typeface="Perandory"/>
                <a:ea typeface="Perandory"/>
                <a:cs typeface="Perandory"/>
                <a:sym typeface="Perandory"/>
              </a:rPr>
              <a:t>LOST RETURNS:</a:t>
            </a:r>
          </a:p>
        </p:txBody>
      </p:sp>
      <p:sp>
        <p:nvSpPr>
          <p:cNvPr name="TextBox 7" id="7"/>
          <p:cNvSpPr txBox="true"/>
          <p:nvPr/>
        </p:nvSpPr>
        <p:spPr>
          <a:xfrm rot="0">
            <a:off x="2796974" y="7751572"/>
            <a:ext cx="13626155" cy="403450"/>
          </a:xfrm>
          <a:prstGeom prst="rect">
            <a:avLst/>
          </a:prstGeom>
        </p:spPr>
        <p:txBody>
          <a:bodyPr anchor="t" rtlCol="false" tIns="0" lIns="0" bIns="0" rIns="0">
            <a:spAutoFit/>
          </a:bodyPr>
          <a:lstStyle/>
          <a:p>
            <a:pPr algn="l">
              <a:lnSpc>
                <a:spcPts val="3171"/>
              </a:lnSpc>
            </a:pPr>
            <a:r>
              <a:rPr lang="en-US" sz="2664" b="true">
                <a:solidFill>
                  <a:srgbClr val="484FA2"/>
                </a:solidFill>
                <a:latin typeface="Montserrat Medium"/>
                <a:ea typeface="Montserrat Medium"/>
                <a:cs typeface="Montserrat Medium"/>
                <a:sym typeface="Montserrat Medium"/>
              </a:rPr>
              <a:t>https://www.lostreturns.com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1884" y="3947393"/>
            <a:ext cx="2541169" cy="2476071"/>
          </a:xfrm>
          <a:custGeom>
            <a:avLst/>
            <a:gdLst/>
            <a:ahLst/>
            <a:cxnLst/>
            <a:rect r="r" b="b" t="t" l="l"/>
            <a:pathLst>
              <a:path h="2476071" w="2541169">
                <a:moveTo>
                  <a:pt x="0" y="0"/>
                </a:moveTo>
                <a:lnTo>
                  <a:pt x="2541168" y="0"/>
                </a:lnTo>
                <a:lnTo>
                  <a:pt x="2541168" y="2476072"/>
                </a:lnTo>
                <a:lnTo>
                  <a:pt x="0" y="2476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028700" y="7117958"/>
            <a:ext cx="638397" cy="1032538"/>
          </a:xfrm>
          <a:custGeom>
            <a:avLst/>
            <a:gdLst/>
            <a:ahLst/>
            <a:cxnLst/>
            <a:rect r="r" b="b" t="t" l="l"/>
            <a:pathLst>
              <a:path h="1032538" w="638397">
                <a:moveTo>
                  <a:pt x="638397" y="0"/>
                </a:moveTo>
                <a:lnTo>
                  <a:pt x="0" y="0"/>
                </a:lnTo>
                <a:lnTo>
                  <a:pt x="0" y="1032538"/>
                </a:lnTo>
                <a:lnTo>
                  <a:pt x="638397" y="1032538"/>
                </a:lnTo>
                <a:lnTo>
                  <a:pt x="6383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297866" y="1181100"/>
            <a:ext cx="12347403" cy="1060379"/>
          </a:xfrm>
          <a:prstGeom prst="rect">
            <a:avLst/>
          </a:prstGeom>
        </p:spPr>
        <p:txBody>
          <a:bodyPr anchor="t" rtlCol="false" tIns="0" lIns="0" bIns="0" rIns="0">
            <a:spAutoFit/>
          </a:bodyPr>
          <a:lstStyle/>
          <a:p>
            <a:pPr algn="l">
              <a:lnSpc>
                <a:spcPts val="7996"/>
              </a:lnSpc>
              <a:spcBef>
                <a:spcPct val="0"/>
              </a:spcBef>
            </a:pPr>
            <a:r>
              <a:rPr lang="en-US" sz="7996">
                <a:solidFill>
                  <a:srgbClr val="5555AB"/>
                </a:solidFill>
                <a:latin typeface="Anton"/>
                <a:ea typeface="Anton"/>
                <a:cs typeface="Anton"/>
                <a:sym typeface="Anton"/>
              </a:rPr>
              <a:t>TECHNOLOGY STACK</a:t>
            </a:r>
          </a:p>
        </p:txBody>
      </p:sp>
      <p:sp>
        <p:nvSpPr>
          <p:cNvPr name="TextBox 6" id="6"/>
          <p:cNvSpPr txBox="true"/>
          <p:nvPr/>
        </p:nvSpPr>
        <p:spPr>
          <a:xfrm rot="0">
            <a:off x="3267681" y="2786269"/>
            <a:ext cx="13100118" cy="6047484"/>
          </a:xfrm>
          <a:prstGeom prst="rect">
            <a:avLst/>
          </a:prstGeom>
        </p:spPr>
        <p:txBody>
          <a:bodyPr anchor="t" rtlCol="false" tIns="0" lIns="0" bIns="0" rIns="0">
            <a:spAutoFit/>
          </a:bodyPr>
          <a:lstStyle/>
          <a:p>
            <a:pPr algn="l">
              <a:lnSpc>
                <a:spcPts val="3858"/>
              </a:lnSpc>
            </a:pPr>
            <a:r>
              <a:rPr lang="en-US" sz="3242">
                <a:solidFill>
                  <a:srgbClr val="484FA2"/>
                </a:solidFill>
                <a:latin typeface="The Seasons"/>
                <a:ea typeface="The Seasons"/>
                <a:cs typeface="The Seasons"/>
                <a:sym typeface="The Seasons"/>
              </a:rPr>
              <a:t>Frontend</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HTML: To structure the web pages.</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CSS: To style the web pages and ensure a responsive design.</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JavaScript: For interactivity and dynamic content.</a:t>
            </a:r>
          </a:p>
          <a:p>
            <a:pPr algn="l">
              <a:lnSpc>
                <a:spcPts val="3085"/>
              </a:lnSpc>
            </a:pPr>
          </a:p>
          <a:p>
            <a:pPr algn="l">
              <a:lnSpc>
                <a:spcPts val="3085"/>
              </a:lnSpc>
            </a:pPr>
          </a:p>
          <a:p>
            <a:pPr algn="l">
              <a:lnSpc>
                <a:spcPts val="3858"/>
              </a:lnSpc>
            </a:pPr>
            <a:r>
              <a:rPr lang="en-US" sz="3242">
                <a:solidFill>
                  <a:srgbClr val="484FA2"/>
                </a:solidFill>
                <a:latin typeface="The Seasons"/>
                <a:ea typeface="The Seasons"/>
                <a:cs typeface="The Seasons"/>
                <a:sym typeface="The Seasons"/>
              </a:rPr>
              <a:t>Backend</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Java: As the primary programming lang</a:t>
            </a:r>
            <a:r>
              <a:rPr lang="en-US" b="true" sz="2592">
                <a:solidFill>
                  <a:srgbClr val="484FA2"/>
                </a:solidFill>
                <a:latin typeface="Montserrat Medium"/>
                <a:ea typeface="Montserrat Medium"/>
                <a:cs typeface="Montserrat Medium"/>
                <a:sym typeface="Montserrat Medium"/>
              </a:rPr>
              <a:t>uage.</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Spring Boot: For building and maintaining the backend application.</a:t>
            </a:r>
          </a:p>
          <a:p>
            <a:pPr algn="l">
              <a:lnSpc>
                <a:spcPts val="3085"/>
              </a:lnSpc>
            </a:pPr>
          </a:p>
          <a:p>
            <a:pPr algn="l">
              <a:lnSpc>
                <a:spcPts val="3085"/>
              </a:lnSpc>
            </a:pPr>
          </a:p>
          <a:p>
            <a:pPr algn="l">
              <a:lnSpc>
                <a:spcPts val="3858"/>
              </a:lnSpc>
            </a:pPr>
            <a:r>
              <a:rPr lang="en-US" sz="3242">
                <a:solidFill>
                  <a:srgbClr val="484FA2"/>
                </a:solidFill>
                <a:latin typeface="The Seasons"/>
                <a:ea typeface="The Seasons"/>
                <a:cs typeface="The Seasons"/>
                <a:sym typeface="The Seasons"/>
              </a:rPr>
              <a:t>Database</a:t>
            </a:r>
          </a:p>
          <a:p>
            <a:pPr algn="l" marL="559785" indent="-279892" lvl="1">
              <a:lnSpc>
                <a:spcPts val="3085"/>
              </a:lnSpc>
              <a:buAutoNum type="arabicPeriod" startAt="1"/>
            </a:pPr>
            <a:r>
              <a:rPr lang="en-US" b="true" sz="2592">
                <a:solidFill>
                  <a:srgbClr val="484FA2"/>
                </a:solidFill>
                <a:latin typeface="Montserrat Medium"/>
                <a:ea typeface="Montserrat Medium"/>
                <a:cs typeface="Montserrat Medium"/>
                <a:sym typeface="Montserrat Medium"/>
              </a:rPr>
              <a:t>MongoDB: As the NoSQL database for storing user information, found items, lost items, and auction details.</a:t>
            </a:r>
          </a:p>
          <a:p>
            <a:pPr algn="l">
              <a:lnSpc>
                <a:spcPts val="308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587" y="7134288"/>
            <a:ext cx="3419726" cy="3028012"/>
          </a:xfrm>
          <a:custGeom>
            <a:avLst/>
            <a:gdLst/>
            <a:ahLst/>
            <a:cxnLst/>
            <a:rect r="r" b="b" t="t" l="l"/>
            <a:pathLst>
              <a:path h="3028012" w="3419726">
                <a:moveTo>
                  <a:pt x="0" y="0"/>
                </a:moveTo>
                <a:lnTo>
                  <a:pt x="3419726" y="0"/>
                </a:lnTo>
                <a:lnTo>
                  <a:pt x="3419726" y="3028012"/>
                </a:lnTo>
                <a:lnTo>
                  <a:pt x="0" y="3028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1884" y="20957"/>
            <a:ext cx="2541169" cy="2476071"/>
          </a:xfrm>
          <a:custGeom>
            <a:avLst/>
            <a:gdLst/>
            <a:ahLst/>
            <a:cxnLst/>
            <a:rect r="r" b="b" t="t" l="l"/>
            <a:pathLst>
              <a:path h="2476071" w="2541169">
                <a:moveTo>
                  <a:pt x="0" y="0"/>
                </a:moveTo>
                <a:lnTo>
                  <a:pt x="2541168" y="0"/>
                </a:lnTo>
                <a:lnTo>
                  <a:pt x="2541168" y="2476071"/>
                </a:lnTo>
                <a:lnTo>
                  <a:pt x="0" y="24760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821229" y="1181100"/>
            <a:ext cx="12586353" cy="1060379"/>
          </a:xfrm>
          <a:prstGeom prst="rect">
            <a:avLst/>
          </a:prstGeom>
        </p:spPr>
        <p:txBody>
          <a:bodyPr anchor="t" rtlCol="false" tIns="0" lIns="0" bIns="0" rIns="0">
            <a:spAutoFit/>
          </a:bodyPr>
          <a:lstStyle/>
          <a:p>
            <a:pPr algn="l">
              <a:lnSpc>
                <a:spcPts val="7996"/>
              </a:lnSpc>
              <a:spcBef>
                <a:spcPct val="0"/>
              </a:spcBef>
            </a:pPr>
            <a:r>
              <a:rPr lang="en-US" sz="7996">
                <a:solidFill>
                  <a:srgbClr val="5555AB"/>
                </a:solidFill>
                <a:latin typeface="Anton"/>
                <a:ea typeface="Anton"/>
                <a:cs typeface="Anton"/>
                <a:sym typeface="Anton"/>
              </a:rPr>
              <a:t>DESIGN AND ARCHITECTURE (MVC)</a:t>
            </a:r>
          </a:p>
        </p:txBody>
      </p:sp>
      <p:sp>
        <p:nvSpPr>
          <p:cNvPr name="TextBox 6" id="6"/>
          <p:cNvSpPr txBox="true"/>
          <p:nvPr/>
        </p:nvSpPr>
        <p:spPr>
          <a:xfrm rot="0">
            <a:off x="3928740" y="2487503"/>
            <a:ext cx="11870733" cy="6374339"/>
          </a:xfrm>
          <a:prstGeom prst="rect">
            <a:avLst/>
          </a:prstGeom>
        </p:spPr>
        <p:txBody>
          <a:bodyPr anchor="t" rtlCol="false" tIns="0" lIns="0" bIns="0" rIns="0">
            <a:spAutoFit/>
          </a:bodyPr>
          <a:lstStyle/>
          <a:p>
            <a:pPr algn="l">
              <a:lnSpc>
                <a:spcPts val="3614"/>
              </a:lnSpc>
            </a:pPr>
            <a:r>
              <a:rPr lang="en-US" sz="3037">
                <a:solidFill>
                  <a:srgbClr val="484FA2"/>
                </a:solidFill>
                <a:latin typeface="The Seasons"/>
                <a:ea typeface="The Seasons"/>
                <a:cs typeface="The Seasons"/>
                <a:sym typeface="The Seasons"/>
              </a:rPr>
              <a:t>Model</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User: Stores user info.</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Item: Stores item details (found/lost, description, image, location).</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Auction: Stores auction details (item, start/end dates, bids).</a:t>
            </a:r>
          </a:p>
          <a:p>
            <a:pPr algn="l">
              <a:lnSpc>
                <a:spcPts val="3043"/>
              </a:lnSpc>
            </a:pPr>
          </a:p>
          <a:p>
            <a:pPr algn="l">
              <a:lnSpc>
                <a:spcPts val="3043"/>
              </a:lnSpc>
            </a:pPr>
          </a:p>
          <a:p>
            <a:pPr algn="l">
              <a:lnSpc>
                <a:spcPts val="3614"/>
              </a:lnSpc>
            </a:pPr>
            <a:r>
              <a:rPr lang="en-US" sz="3037">
                <a:solidFill>
                  <a:srgbClr val="484FA2"/>
                </a:solidFill>
                <a:latin typeface="The Seasons"/>
                <a:ea typeface="The Seasons"/>
                <a:cs typeface="The Seasons"/>
                <a:sym typeface="The Seasons"/>
              </a:rPr>
              <a:t>View</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HTML/CSS/JavaScript: Pages for login, upload found item, report lost item, view items, and</a:t>
            </a:r>
            <a:r>
              <a:rPr lang="en-US" b="true" sz="2557">
                <a:solidFill>
                  <a:srgbClr val="484FA2"/>
                </a:solidFill>
                <a:latin typeface="Montserrat Medium"/>
                <a:ea typeface="Montserrat Medium"/>
                <a:cs typeface="Montserrat Medium"/>
                <a:sym typeface="Montserrat Medium"/>
              </a:rPr>
              <a:t> auction.</a:t>
            </a:r>
          </a:p>
          <a:p>
            <a:pPr algn="l">
              <a:lnSpc>
                <a:spcPts val="3043"/>
              </a:lnSpc>
            </a:pPr>
          </a:p>
          <a:p>
            <a:pPr algn="l">
              <a:lnSpc>
                <a:spcPts val="3043"/>
              </a:lnSpc>
            </a:pPr>
          </a:p>
          <a:p>
            <a:pPr algn="l">
              <a:lnSpc>
                <a:spcPts val="3614"/>
              </a:lnSpc>
            </a:pPr>
            <a:r>
              <a:rPr lang="en-US" sz="3037">
                <a:solidFill>
                  <a:srgbClr val="484FA2"/>
                </a:solidFill>
                <a:latin typeface="The Seasons"/>
                <a:ea typeface="The Seasons"/>
                <a:cs typeface="The Seasons"/>
                <a:sym typeface="The Seasons"/>
              </a:rPr>
              <a:t>Controller</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User Controller: Manages user login/registration.</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Item Controller: Manages found/lost item uploads and retrieval.</a:t>
            </a:r>
          </a:p>
          <a:p>
            <a:pPr algn="l" marL="552168" indent="-276084" lvl="1">
              <a:lnSpc>
                <a:spcPts val="3043"/>
              </a:lnSpc>
              <a:buAutoNum type="arabicPeriod" startAt="1"/>
            </a:pPr>
            <a:r>
              <a:rPr lang="en-US" b="true" sz="2557">
                <a:solidFill>
                  <a:srgbClr val="484FA2"/>
                </a:solidFill>
                <a:latin typeface="Montserrat Medium"/>
                <a:ea typeface="Montserrat Medium"/>
                <a:cs typeface="Montserrat Medium"/>
                <a:sym typeface="Montserrat Medium"/>
              </a:rPr>
              <a:t>Auction Controller: Manages auction start and bid placement.</a:t>
            </a:r>
          </a:p>
          <a:p>
            <a:pPr algn="l">
              <a:lnSpc>
                <a:spcPts val="304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9312" y="8809564"/>
            <a:ext cx="2541169" cy="2476071"/>
          </a:xfrm>
          <a:custGeom>
            <a:avLst/>
            <a:gdLst/>
            <a:ahLst/>
            <a:cxnLst/>
            <a:rect r="r" b="b" t="t" l="l"/>
            <a:pathLst>
              <a:path h="2476071" w="2541169">
                <a:moveTo>
                  <a:pt x="0" y="0"/>
                </a:moveTo>
                <a:lnTo>
                  <a:pt x="2541169" y="0"/>
                </a:lnTo>
                <a:lnTo>
                  <a:pt x="2541169" y="2476072"/>
                </a:lnTo>
                <a:lnTo>
                  <a:pt x="0" y="2476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31123" y="574741"/>
            <a:ext cx="11530965" cy="1060379"/>
          </a:xfrm>
          <a:prstGeom prst="rect">
            <a:avLst/>
          </a:prstGeom>
        </p:spPr>
        <p:txBody>
          <a:bodyPr anchor="t" rtlCol="false" tIns="0" lIns="0" bIns="0" rIns="0">
            <a:spAutoFit/>
          </a:bodyPr>
          <a:lstStyle/>
          <a:p>
            <a:pPr algn="ctr">
              <a:lnSpc>
                <a:spcPts val="7996"/>
              </a:lnSpc>
              <a:spcBef>
                <a:spcPct val="0"/>
              </a:spcBef>
            </a:pPr>
            <a:r>
              <a:rPr lang="en-US" sz="7996">
                <a:solidFill>
                  <a:srgbClr val="5555AB"/>
                </a:solidFill>
                <a:latin typeface="Anton"/>
                <a:ea typeface="Anton"/>
                <a:cs typeface="Anton"/>
                <a:sym typeface="Anton"/>
              </a:rPr>
              <a:t>FEATURES AND FUNTIONALITY</a:t>
            </a:r>
          </a:p>
        </p:txBody>
      </p:sp>
      <p:sp>
        <p:nvSpPr>
          <p:cNvPr name="TextBox 5" id="5"/>
          <p:cNvSpPr txBox="true"/>
          <p:nvPr/>
        </p:nvSpPr>
        <p:spPr>
          <a:xfrm rot="0">
            <a:off x="1551220" y="5766636"/>
            <a:ext cx="5006415" cy="974403"/>
          </a:xfrm>
          <a:prstGeom prst="rect">
            <a:avLst/>
          </a:prstGeom>
        </p:spPr>
        <p:txBody>
          <a:bodyPr anchor="t" rtlCol="false" tIns="0" lIns="0" bIns="0" rIns="0">
            <a:spAutoFit/>
          </a:bodyPr>
          <a:lstStyle/>
          <a:p>
            <a:pPr algn="l">
              <a:lnSpc>
                <a:spcPts val="2574"/>
              </a:lnSpc>
            </a:pPr>
            <a:r>
              <a:rPr lang="en-US" sz="2163" b="true">
                <a:solidFill>
                  <a:srgbClr val="484FA2"/>
                </a:solidFill>
                <a:latin typeface="Montserrat Medium"/>
                <a:ea typeface="Montserrat Medium"/>
                <a:cs typeface="Montserrat Medium"/>
                <a:sym typeface="Montserrat Medium"/>
              </a:rPr>
              <a:t>Form to report lost items with descriptions and other relevant details.</a:t>
            </a:r>
          </a:p>
        </p:txBody>
      </p:sp>
      <p:sp>
        <p:nvSpPr>
          <p:cNvPr name="TextBox 6" id="6"/>
          <p:cNvSpPr txBox="true"/>
          <p:nvPr/>
        </p:nvSpPr>
        <p:spPr>
          <a:xfrm rot="0">
            <a:off x="1551220" y="5114522"/>
            <a:ext cx="4166181" cy="441573"/>
          </a:xfrm>
          <a:prstGeom prst="rect">
            <a:avLst/>
          </a:prstGeom>
        </p:spPr>
        <p:txBody>
          <a:bodyPr anchor="t" rtlCol="false" tIns="0" lIns="0" bIns="0" rIns="0">
            <a:spAutoFit/>
          </a:bodyPr>
          <a:lstStyle/>
          <a:p>
            <a:pPr algn="l">
              <a:lnSpc>
                <a:spcPts val="3263"/>
              </a:lnSpc>
              <a:spcBef>
                <a:spcPct val="0"/>
              </a:spcBef>
            </a:pPr>
            <a:r>
              <a:rPr lang="en-US" b="true" sz="3263">
                <a:solidFill>
                  <a:srgbClr val="5555AB"/>
                </a:solidFill>
                <a:latin typeface="The Seasons Bold"/>
                <a:ea typeface="The Seasons Bold"/>
                <a:cs typeface="The Seasons Bold"/>
                <a:sym typeface="The Seasons Bold"/>
              </a:rPr>
              <a:t>REPORT LOST ITEM:</a:t>
            </a:r>
          </a:p>
        </p:txBody>
      </p:sp>
      <p:sp>
        <p:nvSpPr>
          <p:cNvPr name="TextBox 7" id="7"/>
          <p:cNvSpPr txBox="true"/>
          <p:nvPr/>
        </p:nvSpPr>
        <p:spPr>
          <a:xfrm rot="0">
            <a:off x="1343377" y="2940405"/>
            <a:ext cx="5006415" cy="1622174"/>
          </a:xfrm>
          <a:prstGeom prst="rect">
            <a:avLst/>
          </a:prstGeom>
        </p:spPr>
        <p:txBody>
          <a:bodyPr anchor="t" rtlCol="false" tIns="0" lIns="0" bIns="0" rIns="0">
            <a:spAutoFit/>
          </a:bodyPr>
          <a:lstStyle/>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Login with college ID and password.</a:t>
            </a:r>
          </a:p>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Registration (if needed).</a:t>
            </a:r>
          </a:p>
          <a:p>
            <a:pPr algn="l">
              <a:lnSpc>
                <a:spcPts val="2574"/>
              </a:lnSpc>
            </a:pPr>
          </a:p>
          <a:p>
            <a:pPr algn="l">
              <a:lnSpc>
                <a:spcPts val="2574"/>
              </a:lnSpc>
            </a:pPr>
          </a:p>
        </p:txBody>
      </p:sp>
      <p:sp>
        <p:nvSpPr>
          <p:cNvPr name="TextBox 8" id="8"/>
          <p:cNvSpPr txBox="true"/>
          <p:nvPr/>
        </p:nvSpPr>
        <p:spPr>
          <a:xfrm rot="0">
            <a:off x="1551220" y="2025477"/>
            <a:ext cx="4590729" cy="857408"/>
          </a:xfrm>
          <a:prstGeom prst="rect">
            <a:avLst/>
          </a:prstGeom>
        </p:spPr>
        <p:txBody>
          <a:bodyPr anchor="t" rtlCol="false" tIns="0" lIns="0" bIns="0" rIns="0">
            <a:spAutoFit/>
          </a:bodyPr>
          <a:lstStyle/>
          <a:p>
            <a:pPr algn="l">
              <a:lnSpc>
                <a:spcPts val="3263"/>
              </a:lnSpc>
              <a:spcBef>
                <a:spcPct val="0"/>
              </a:spcBef>
            </a:pPr>
            <a:r>
              <a:rPr lang="en-US" b="true" sz="3263">
                <a:solidFill>
                  <a:srgbClr val="5555AB"/>
                </a:solidFill>
                <a:latin typeface="The Seasons Bold"/>
                <a:ea typeface="The Seasons Bold"/>
                <a:cs typeface="The Seasons Bold"/>
                <a:sym typeface="The Seasons Bold"/>
              </a:rPr>
              <a:t>USER  AUTHENTICATION:</a:t>
            </a:r>
          </a:p>
        </p:txBody>
      </p:sp>
      <p:sp>
        <p:nvSpPr>
          <p:cNvPr name="TextBox 9" id="9"/>
          <p:cNvSpPr txBox="true"/>
          <p:nvPr/>
        </p:nvSpPr>
        <p:spPr>
          <a:xfrm rot="0">
            <a:off x="8235121" y="2882885"/>
            <a:ext cx="5006415" cy="1946059"/>
          </a:xfrm>
          <a:prstGeom prst="rect">
            <a:avLst/>
          </a:prstGeom>
        </p:spPr>
        <p:txBody>
          <a:bodyPr anchor="t" rtlCol="false" tIns="0" lIns="0" bIns="0" rIns="0">
            <a:spAutoFit/>
          </a:bodyPr>
          <a:lstStyle/>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Form to upload images, location, description, and date of found items.</a:t>
            </a:r>
          </a:p>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Preview of uploaded image and details before submission.</a:t>
            </a:r>
          </a:p>
          <a:p>
            <a:pPr algn="l">
              <a:lnSpc>
                <a:spcPts val="2574"/>
              </a:lnSpc>
            </a:pPr>
          </a:p>
        </p:txBody>
      </p:sp>
      <p:sp>
        <p:nvSpPr>
          <p:cNvPr name="TextBox 10" id="10"/>
          <p:cNvSpPr txBox="true"/>
          <p:nvPr/>
        </p:nvSpPr>
        <p:spPr>
          <a:xfrm rot="0">
            <a:off x="8301894" y="2025477"/>
            <a:ext cx="4166181" cy="857408"/>
          </a:xfrm>
          <a:prstGeom prst="rect">
            <a:avLst/>
          </a:prstGeom>
        </p:spPr>
        <p:txBody>
          <a:bodyPr anchor="t" rtlCol="false" tIns="0" lIns="0" bIns="0" rIns="0">
            <a:spAutoFit/>
          </a:bodyPr>
          <a:lstStyle/>
          <a:p>
            <a:pPr algn="l">
              <a:lnSpc>
                <a:spcPts val="3263"/>
              </a:lnSpc>
              <a:spcBef>
                <a:spcPct val="0"/>
              </a:spcBef>
            </a:pPr>
            <a:r>
              <a:rPr lang="en-US" b="true" sz="3263">
                <a:solidFill>
                  <a:srgbClr val="5555AB"/>
                </a:solidFill>
                <a:latin typeface="The Seasons Bold"/>
                <a:ea typeface="The Seasons Bold"/>
                <a:cs typeface="The Seasons Bold"/>
                <a:sym typeface="The Seasons Bold"/>
              </a:rPr>
              <a:t>UPLOAD FOUND ITEM:</a:t>
            </a:r>
          </a:p>
        </p:txBody>
      </p:sp>
      <p:sp>
        <p:nvSpPr>
          <p:cNvPr name="TextBox 11" id="11"/>
          <p:cNvSpPr txBox="true"/>
          <p:nvPr/>
        </p:nvSpPr>
        <p:spPr>
          <a:xfrm rot="0">
            <a:off x="8301894" y="5971930"/>
            <a:ext cx="5006415" cy="2917715"/>
          </a:xfrm>
          <a:prstGeom prst="rect">
            <a:avLst/>
          </a:prstGeom>
        </p:spPr>
        <p:txBody>
          <a:bodyPr anchor="t" rtlCol="false" tIns="0" lIns="0" bIns="0" rIns="0">
            <a:spAutoFit/>
          </a:bodyPr>
          <a:lstStyle/>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Automatically initiate auctions for unclaimed items after a specified deadline.</a:t>
            </a:r>
          </a:p>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Users can place bids on auction items.</a:t>
            </a:r>
          </a:p>
          <a:p>
            <a:pPr algn="l" marL="467001" indent="-233501" lvl="1">
              <a:lnSpc>
                <a:spcPts val="2574"/>
              </a:lnSpc>
              <a:buFont typeface="Arial"/>
              <a:buChar char="•"/>
            </a:pPr>
            <a:r>
              <a:rPr lang="en-US" b="true" sz="2163">
                <a:solidFill>
                  <a:srgbClr val="484FA2"/>
                </a:solidFill>
                <a:latin typeface="Montserrat Medium"/>
                <a:ea typeface="Montserrat Medium"/>
                <a:cs typeface="Montserrat Medium"/>
                <a:sym typeface="Montserrat Medium"/>
              </a:rPr>
              <a:t>Notification system for users about ongoing and upcoming auctions.</a:t>
            </a:r>
          </a:p>
          <a:p>
            <a:pPr algn="l">
              <a:lnSpc>
                <a:spcPts val="2574"/>
              </a:lnSpc>
            </a:pPr>
          </a:p>
        </p:txBody>
      </p:sp>
      <p:sp>
        <p:nvSpPr>
          <p:cNvPr name="TextBox 12" id="12"/>
          <p:cNvSpPr txBox="true"/>
          <p:nvPr/>
        </p:nvSpPr>
        <p:spPr>
          <a:xfrm rot="0">
            <a:off x="8301894" y="5319816"/>
            <a:ext cx="4166181" cy="441573"/>
          </a:xfrm>
          <a:prstGeom prst="rect">
            <a:avLst/>
          </a:prstGeom>
        </p:spPr>
        <p:txBody>
          <a:bodyPr anchor="t" rtlCol="false" tIns="0" lIns="0" bIns="0" rIns="0">
            <a:spAutoFit/>
          </a:bodyPr>
          <a:lstStyle/>
          <a:p>
            <a:pPr algn="l">
              <a:lnSpc>
                <a:spcPts val="3263"/>
              </a:lnSpc>
              <a:spcBef>
                <a:spcPct val="0"/>
              </a:spcBef>
            </a:pPr>
            <a:r>
              <a:rPr lang="en-US" b="true" sz="3263">
                <a:solidFill>
                  <a:srgbClr val="5555AB"/>
                </a:solidFill>
                <a:latin typeface="The Seasons Bold"/>
                <a:ea typeface="The Seasons Bold"/>
                <a:cs typeface="The Seasons Bold"/>
                <a:sym typeface="The Seasons Bold"/>
              </a:rPr>
              <a:t>AUCTION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true" flipV="false" rot="0">
            <a:off x="-120935" y="9258300"/>
            <a:ext cx="734258" cy="1187583"/>
          </a:xfrm>
          <a:custGeom>
            <a:avLst/>
            <a:gdLst/>
            <a:ahLst/>
            <a:cxnLst/>
            <a:rect r="r" b="b" t="t" l="l"/>
            <a:pathLst>
              <a:path h="1187583" w="734258">
                <a:moveTo>
                  <a:pt x="734259" y="0"/>
                </a:moveTo>
                <a:lnTo>
                  <a:pt x="0" y="0"/>
                </a:lnTo>
                <a:lnTo>
                  <a:pt x="0" y="1187583"/>
                </a:lnTo>
                <a:lnTo>
                  <a:pt x="734259" y="1187583"/>
                </a:lnTo>
                <a:lnTo>
                  <a:pt x="73425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935" y="20957"/>
            <a:ext cx="2541169" cy="2476071"/>
          </a:xfrm>
          <a:custGeom>
            <a:avLst/>
            <a:gdLst/>
            <a:ahLst/>
            <a:cxnLst/>
            <a:rect r="r" b="b" t="t" l="l"/>
            <a:pathLst>
              <a:path h="2476071" w="2541169">
                <a:moveTo>
                  <a:pt x="0" y="0"/>
                </a:moveTo>
                <a:lnTo>
                  <a:pt x="2541169" y="0"/>
                </a:lnTo>
                <a:lnTo>
                  <a:pt x="2541169" y="2476071"/>
                </a:lnTo>
                <a:lnTo>
                  <a:pt x="0" y="24760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46194" y="2822529"/>
            <a:ext cx="4259849" cy="1758156"/>
          </a:xfrm>
          <a:custGeom>
            <a:avLst/>
            <a:gdLst/>
            <a:ahLst/>
            <a:cxnLst/>
            <a:rect r="r" b="b" t="t" l="l"/>
            <a:pathLst>
              <a:path h="1758156" w="4259849">
                <a:moveTo>
                  <a:pt x="0" y="0"/>
                </a:moveTo>
                <a:lnTo>
                  <a:pt x="4259850" y="0"/>
                </a:lnTo>
                <a:lnTo>
                  <a:pt x="4259850" y="1758156"/>
                </a:lnTo>
                <a:lnTo>
                  <a:pt x="0" y="17581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914355" y="1056952"/>
            <a:ext cx="10459291" cy="1060726"/>
          </a:xfrm>
          <a:prstGeom prst="rect">
            <a:avLst/>
          </a:prstGeom>
        </p:spPr>
        <p:txBody>
          <a:bodyPr anchor="t" rtlCol="false" tIns="0" lIns="0" bIns="0" rIns="0">
            <a:spAutoFit/>
          </a:bodyPr>
          <a:lstStyle/>
          <a:p>
            <a:pPr algn="just">
              <a:lnSpc>
                <a:spcPts val="7996"/>
              </a:lnSpc>
              <a:spcBef>
                <a:spcPct val="0"/>
              </a:spcBef>
            </a:pPr>
            <a:r>
              <a:rPr lang="en-US" sz="7996">
                <a:solidFill>
                  <a:srgbClr val="5555AB"/>
                </a:solidFill>
                <a:latin typeface="Anton"/>
                <a:ea typeface="Anton"/>
                <a:cs typeface="Anton"/>
                <a:sym typeface="Anton"/>
              </a:rPr>
              <a:t>DEVELOPMENT WORKFLOW</a:t>
            </a:r>
          </a:p>
        </p:txBody>
      </p:sp>
      <p:sp>
        <p:nvSpPr>
          <p:cNvPr name="TextBox 7" id="7"/>
          <p:cNvSpPr txBox="true"/>
          <p:nvPr/>
        </p:nvSpPr>
        <p:spPr>
          <a:xfrm rot="0">
            <a:off x="1566181" y="3434948"/>
            <a:ext cx="1799852" cy="533318"/>
          </a:xfrm>
          <a:prstGeom prst="rect">
            <a:avLst/>
          </a:prstGeom>
        </p:spPr>
        <p:txBody>
          <a:bodyPr anchor="t" rtlCol="false" tIns="0" lIns="0" bIns="0" rIns="0">
            <a:spAutoFit/>
          </a:bodyPr>
          <a:lstStyle/>
          <a:p>
            <a:pPr algn="l">
              <a:lnSpc>
                <a:spcPts val="4195"/>
              </a:lnSpc>
            </a:pPr>
            <a:r>
              <a:rPr lang="en-US" sz="3525">
                <a:solidFill>
                  <a:srgbClr val="EECACA"/>
                </a:solidFill>
                <a:latin typeface="The Seasons"/>
                <a:ea typeface="The Seasons"/>
                <a:cs typeface="The Seasons"/>
                <a:sym typeface="The Seasons"/>
              </a:rPr>
              <a:t>SET UP</a:t>
            </a:r>
          </a:p>
        </p:txBody>
      </p:sp>
      <p:sp>
        <p:nvSpPr>
          <p:cNvPr name="Freeform 8" id="8"/>
          <p:cNvSpPr/>
          <p:nvPr/>
        </p:nvSpPr>
        <p:spPr>
          <a:xfrm flipH="false" flipV="false" rot="0">
            <a:off x="4658646" y="4580685"/>
            <a:ext cx="4259849" cy="1758156"/>
          </a:xfrm>
          <a:custGeom>
            <a:avLst/>
            <a:gdLst/>
            <a:ahLst/>
            <a:cxnLst/>
            <a:rect r="r" b="b" t="t" l="l"/>
            <a:pathLst>
              <a:path h="1758156" w="4259849">
                <a:moveTo>
                  <a:pt x="0" y="0"/>
                </a:moveTo>
                <a:lnTo>
                  <a:pt x="4259850" y="0"/>
                </a:lnTo>
                <a:lnTo>
                  <a:pt x="4259850" y="1758156"/>
                </a:lnTo>
                <a:lnTo>
                  <a:pt x="0" y="17581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4506044" y="5020140"/>
            <a:ext cx="4412452" cy="1052267"/>
          </a:xfrm>
          <a:prstGeom prst="rect">
            <a:avLst/>
          </a:prstGeom>
        </p:spPr>
        <p:txBody>
          <a:bodyPr anchor="t" rtlCol="false" tIns="0" lIns="0" bIns="0" rIns="0">
            <a:spAutoFit/>
          </a:bodyPr>
          <a:lstStyle/>
          <a:p>
            <a:pPr algn="ctr">
              <a:lnSpc>
                <a:spcPts val="4195"/>
              </a:lnSpc>
            </a:pPr>
            <a:r>
              <a:rPr lang="en-US" sz="3525">
                <a:solidFill>
                  <a:srgbClr val="EECACA"/>
                </a:solidFill>
                <a:latin typeface="The Seasons"/>
                <a:ea typeface="The Seasons"/>
                <a:cs typeface="The Seasons"/>
                <a:sym typeface="The Seasons"/>
              </a:rPr>
              <a:t>FRONTEND DEVELOPMENT</a:t>
            </a:r>
          </a:p>
        </p:txBody>
      </p:sp>
      <p:sp>
        <p:nvSpPr>
          <p:cNvPr name="Freeform 10" id="10"/>
          <p:cNvSpPr/>
          <p:nvPr/>
        </p:nvSpPr>
        <p:spPr>
          <a:xfrm flipH="false" flipV="false" rot="0">
            <a:off x="9144000" y="6313464"/>
            <a:ext cx="4259849" cy="1758156"/>
          </a:xfrm>
          <a:custGeom>
            <a:avLst/>
            <a:gdLst/>
            <a:ahLst/>
            <a:cxnLst/>
            <a:rect r="r" b="b" t="t" l="l"/>
            <a:pathLst>
              <a:path h="1758156" w="4259849">
                <a:moveTo>
                  <a:pt x="0" y="0"/>
                </a:moveTo>
                <a:lnTo>
                  <a:pt x="4259849" y="0"/>
                </a:lnTo>
                <a:lnTo>
                  <a:pt x="4259849" y="1758156"/>
                </a:lnTo>
                <a:lnTo>
                  <a:pt x="0" y="17581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9144000" y="6753086"/>
            <a:ext cx="4412452" cy="1052267"/>
          </a:xfrm>
          <a:prstGeom prst="rect">
            <a:avLst/>
          </a:prstGeom>
        </p:spPr>
        <p:txBody>
          <a:bodyPr anchor="t" rtlCol="false" tIns="0" lIns="0" bIns="0" rIns="0">
            <a:spAutoFit/>
          </a:bodyPr>
          <a:lstStyle/>
          <a:p>
            <a:pPr algn="ctr">
              <a:lnSpc>
                <a:spcPts val="4195"/>
              </a:lnSpc>
            </a:pPr>
            <a:r>
              <a:rPr lang="en-US" sz="3525">
                <a:solidFill>
                  <a:srgbClr val="EECACA"/>
                </a:solidFill>
                <a:latin typeface="The Seasons"/>
                <a:ea typeface="The Seasons"/>
                <a:cs typeface="The Seasons"/>
                <a:sym typeface="The Seasons"/>
              </a:rPr>
              <a:t>BACKEND DEVELOPMENT</a:t>
            </a:r>
          </a:p>
        </p:txBody>
      </p:sp>
      <p:sp>
        <p:nvSpPr>
          <p:cNvPr name="Freeform 12" id="12"/>
          <p:cNvSpPr/>
          <p:nvPr/>
        </p:nvSpPr>
        <p:spPr>
          <a:xfrm flipH="false" flipV="false" rot="0">
            <a:off x="13709054" y="8071620"/>
            <a:ext cx="4259849" cy="1758156"/>
          </a:xfrm>
          <a:custGeom>
            <a:avLst/>
            <a:gdLst/>
            <a:ahLst/>
            <a:cxnLst/>
            <a:rect r="r" b="b" t="t" l="l"/>
            <a:pathLst>
              <a:path h="1758156" w="4259849">
                <a:moveTo>
                  <a:pt x="0" y="0"/>
                </a:moveTo>
                <a:lnTo>
                  <a:pt x="4259850" y="0"/>
                </a:lnTo>
                <a:lnTo>
                  <a:pt x="4259850" y="1758156"/>
                </a:lnTo>
                <a:lnTo>
                  <a:pt x="0" y="17581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3556452" y="8511242"/>
            <a:ext cx="4412452" cy="1052267"/>
          </a:xfrm>
          <a:prstGeom prst="rect">
            <a:avLst/>
          </a:prstGeom>
        </p:spPr>
        <p:txBody>
          <a:bodyPr anchor="t" rtlCol="false" tIns="0" lIns="0" bIns="0" rIns="0">
            <a:spAutoFit/>
          </a:bodyPr>
          <a:lstStyle/>
          <a:p>
            <a:pPr algn="ctr">
              <a:lnSpc>
                <a:spcPts val="4195"/>
              </a:lnSpc>
            </a:pPr>
            <a:r>
              <a:rPr lang="en-US" sz="3525">
                <a:solidFill>
                  <a:srgbClr val="EECACA"/>
                </a:solidFill>
                <a:latin typeface="The Seasons"/>
                <a:ea typeface="The Seasons"/>
                <a:cs typeface="The Seasons"/>
                <a:sym typeface="The Seasons"/>
              </a:rPr>
              <a:t>TESTING AND INTEGRATION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sp>
        <p:nvSpPr>
          <p:cNvPr name="Freeform 2" id="2"/>
          <p:cNvSpPr/>
          <p:nvPr/>
        </p:nvSpPr>
        <p:spPr>
          <a:xfrm flipH="false" flipV="false" rot="0">
            <a:off x="17336195" y="1242565"/>
            <a:ext cx="296510" cy="2508928"/>
          </a:xfrm>
          <a:custGeom>
            <a:avLst/>
            <a:gdLst/>
            <a:ahLst/>
            <a:cxnLst/>
            <a:rect r="r" b="b" t="t" l="l"/>
            <a:pathLst>
              <a:path h="2508928" w="296510">
                <a:moveTo>
                  <a:pt x="0" y="0"/>
                </a:moveTo>
                <a:lnTo>
                  <a:pt x="296509" y="0"/>
                </a:lnTo>
                <a:lnTo>
                  <a:pt x="296509" y="2508927"/>
                </a:lnTo>
                <a:lnTo>
                  <a:pt x="0" y="2508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8678934"/>
            <a:ext cx="2541169" cy="2476071"/>
          </a:xfrm>
          <a:custGeom>
            <a:avLst/>
            <a:gdLst/>
            <a:ahLst/>
            <a:cxnLst/>
            <a:rect r="r" b="b" t="t" l="l"/>
            <a:pathLst>
              <a:path h="2476071" w="2541169">
                <a:moveTo>
                  <a:pt x="0" y="0"/>
                </a:moveTo>
                <a:lnTo>
                  <a:pt x="2541169" y="0"/>
                </a:lnTo>
                <a:lnTo>
                  <a:pt x="2541169" y="2476072"/>
                </a:lnTo>
                <a:lnTo>
                  <a:pt x="0" y="24760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754114" y="2047993"/>
            <a:ext cx="7315200" cy="1484692"/>
          </a:xfrm>
          <a:custGeom>
            <a:avLst/>
            <a:gdLst/>
            <a:ahLst/>
            <a:cxnLst/>
            <a:rect r="r" b="b" t="t" l="l"/>
            <a:pathLst>
              <a:path h="1484692" w="7315200">
                <a:moveTo>
                  <a:pt x="0" y="0"/>
                </a:moveTo>
                <a:lnTo>
                  <a:pt x="7315200" y="0"/>
                </a:lnTo>
                <a:lnTo>
                  <a:pt x="7315200" y="1484692"/>
                </a:lnTo>
                <a:lnTo>
                  <a:pt x="0" y="14846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521935" y="416114"/>
            <a:ext cx="11225729" cy="1060379"/>
          </a:xfrm>
          <a:prstGeom prst="rect">
            <a:avLst/>
          </a:prstGeom>
        </p:spPr>
        <p:txBody>
          <a:bodyPr anchor="t" rtlCol="false" tIns="0" lIns="0" bIns="0" rIns="0">
            <a:spAutoFit/>
          </a:bodyPr>
          <a:lstStyle/>
          <a:p>
            <a:pPr algn="ctr">
              <a:lnSpc>
                <a:spcPts val="7996"/>
              </a:lnSpc>
              <a:spcBef>
                <a:spcPct val="0"/>
              </a:spcBef>
            </a:pPr>
            <a:r>
              <a:rPr lang="en-US" sz="7996">
                <a:solidFill>
                  <a:srgbClr val="5555AB"/>
                </a:solidFill>
                <a:latin typeface="Anton"/>
                <a:ea typeface="Anton"/>
                <a:cs typeface="Anton"/>
                <a:sym typeface="Anton"/>
              </a:rPr>
              <a:t>ROLE AND RESPONSIBILTY</a:t>
            </a:r>
          </a:p>
        </p:txBody>
      </p:sp>
      <p:sp>
        <p:nvSpPr>
          <p:cNvPr name="TextBox 6" id="6"/>
          <p:cNvSpPr txBox="true"/>
          <p:nvPr/>
        </p:nvSpPr>
        <p:spPr>
          <a:xfrm rot="0">
            <a:off x="5317527" y="2254677"/>
            <a:ext cx="8185083" cy="374691"/>
          </a:xfrm>
          <a:prstGeom prst="rect">
            <a:avLst/>
          </a:prstGeom>
        </p:spPr>
        <p:txBody>
          <a:bodyPr anchor="t" rtlCol="false" tIns="0" lIns="0" bIns="0" rIns="0">
            <a:spAutoFit/>
          </a:bodyPr>
          <a:lstStyle/>
          <a:p>
            <a:pPr algn="l">
              <a:lnSpc>
                <a:spcPts val="3050"/>
              </a:lnSpc>
            </a:pPr>
            <a:r>
              <a:rPr lang="en-US" sz="2563">
                <a:solidFill>
                  <a:srgbClr val="EECACA"/>
                </a:solidFill>
                <a:latin typeface="Shrikhand"/>
                <a:ea typeface="Shrikhand"/>
                <a:cs typeface="Shrikhand"/>
                <a:sym typeface="Shrikhand"/>
              </a:rPr>
              <a:t>FRONTEND</a:t>
            </a:r>
          </a:p>
        </p:txBody>
      </p:sp>
      <p:sp>
        <p:nvSpPr>
          <p:cNvPr name="TextBox 7" id="7"/>
          <p:cNvSpPr txBox="true"/>
          <p:nvPr/>
        </p:nvSpPr>
        <p:spPr>
          <a:xfrm rot="0">
            <a:off x="6134799" y="2972942"/>
            <a:ext cx="8185083" cy="431841"/>
          </a:xfrm>
          <a:prstGeom prst="rect">
            <a:avLst/>
          </a:prstGeom>
        </p:spPr>
        <p:txBody>
          <a:bodyPr anchor="t" rtlCol="false" tIns="0" lIns="0" bIns="0" rIns="0">
            <a:spAutoFit/>
          </a:bodyPr>
          <a:lstStyle/>
          <a:p>
            <a:pPr algn="l">
              <a:lnSpc>
                <a:spcPts val="3050"/>
              </a:lnSpc>
            </a:pPr>
            <a:r>
              <a:rPr lang="en-US" sz="2563">
                <a:solidFill>
                  <a:srgbClr val="EECACA"/>
                </a:solidFill>
                <a:latin typeface="Times New Roman"/>
                <a:ea typeface="Times New Roman"/>
                <a:cs typeface="Times New Roman"/>
                <a:sym typeface="Times New Roman"/>
              </a:rPr>
              <a:t>SURYATEJ ,SUNANDA</a:t>
            </a:r>
          </a:p>
        </p:txBody>
      </p:sp>
      <p:sp>
        <p:nvSpPr>
          <p:cNvPr name="Freeform 8" id="8"/>
          <p:cNvSpPr/>
          <p:nvPr/>
        </p:nvSpPr>
        <p:spPr>
          <a:xfrm flipH="false" flipV="false" rot="0">
            <a:off x="4754114" y="3724123"/>
            <a:ext cx="7315200" cy="1484692"/>
          </a:xfrm>
          <a:custGeom>
            <a:avLst/>
            <a:gdLst/>
            <a:ahLst/>
            <a:cxnLst/>
            <a:rect r="r" b="b" t="t" l="l"/>
            <a:pathLst>
              <a:path h="1484692" w="7315200">
                <a:moveTo>
                  <a:pt x="0" y="0"/>
                </a:moveTo>
                <a:lnTo>
                  <a:pt x="7315200" y="0"/>
                </a:lnTo>
                <a:lnTo>
                  <a:pt x="7315200" y="1484692"/>
                </a:lnTo>
                <a:lnTo>
                  <a:pt x="0" y="14846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317527" y="3930807"/>
            <a:ext cx="8185083" cy="374691"/>
          </a:xfrm>
          <a:prstGeom prst="rect">
            <a:avLst/>
          </a:prstGeom>
        </p:spPr>
        <p:txBody>
          <a:bodyPr anchor="t" rtlCol="false" tIns="0" lIns="0" bIns="0" rIns="0">
            <a:spAutoFit/>
          </a:bodyPr>
          <a:lstStyle/>
          <a:p>
            <a:pPr algn="l">
              <a:lnSpc>
                <a:spcPts val="3050"/>
              </a:lnSpc>
            </a:pPr>
            <a:r>
              <a:rPr lang="en-US" sz="2563">
                <a:solidFill>
                  <a:srgbClr val="EECACA"/>
                </a:solidFill>
                <a:latin typeface="Shrikhand"/>
                <a:ea typeface="Shrikhand"/>
                <a:cs typeface="Shrikhand"/>
                <a:sym typeface="Shrikhand"/>
              </a:rPr>
              <a:t>BACKEND</a:t>
            </a:r>
          </a:p>
        </p:txBody>
      </p:sp>
      <p:sp>
        <p:nvSpPr>
          <p:cNvPr name="TextBox 10" id="10"/>
          <p:cNvSpPr txBox="true"/>
          <p:nvPr/>
        </p:nvSpPr>
        <p:spPr>
          <a:xfrm rot="0">
            <a:off x="6416505" y="4418844"/>
            <a:ext cx="8185083" cy="431841"/>
          </a:xfrm>
          <a:prstGeom prst="rect">
            <a:avLst/>
          </a:prstGeom>
        </p:spPr>
        <p:txBody>
          <a:bodyPr anchor="t" rtlCol="false" tIns="0" lIns="0" bIns="0" rIns="0">
            <a:spAutoFit/>
          </a:bodyPr>
          <a:lstStyle/>
          <a:p>
            <a:pPr algn="l">
              <a:lnSpc>
                <a:spcPts val="3050"/>
              </a:lnSpc>
            </a:pPr>
            <a:r>
              <a:rPr lang="en-US" sz="2563">
                <a:solidFill>
                  <a:srgbClr val="EECACA"/>
                </a:solidFill>
                <a:latin typeface="Times New Roman"/>
                <a:ea typeface="Times New Roman"/>
                <a:cs typeface="Times New Roman"/>
                <a:sym typeface="Times New Roman"/>
              </a:rPr>
              <a:t>SURYATEJ , GOVIND</a:t>
            </a:r>
          </a:p>
        </p:txBody>
      </p:sp>
      <p:sp>
        <p:nvSpPr>
          <p:cNvPr name="Freeform 11" id="11"/>
          <p:cNvSpPr/>
          <p:nvPr/>
        </p:nvSpPr>
        <p:spPr>
          <a:xfrm flipH="false" flipV="false" rot="0">
            <a:off x="4741406" y="5463424"/>
            <a:ext cx="7315200" cy="1484692"/>
          </a:xfrm>
          <a:custGeom>
            <a:avLst/>
            <a:gdLst/>
            <a:ahLst/>
            <a:cxnLst/>
            <a:rect r="r" b="b" t="t" l="l"/>
            <a:pathLst>
              <a:path h="1484692" w="7315200">
                <a:moveTo>
                  <a:pt x="0" y="0"/>
                </a:moveTo>
                <a:lnTo>
                  <a:pt x="7315200" y="0"/>
                </a:lnTo>
                <a:lnTo>
                  <a:pt x="7315200" y="1484692"/>
                </a:lnTo>
                <a:lnTo>
                  <a:pt x="0" y="14846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5304819" y="5670108"/>
            <a:ext cx="8185083" cy="374691"/>
          </a:xfrm>
          <a:prstGeom prst="rect">
            <a:avLst/>
          </a:prstGeom>
        </p:spPr>
        <p:txBody>
          <a:bodyPr anchor="t" rtlCol="false" tIns="0" lIns="0" bIns="0" rIns="0">
            <a:spAutoFit/>
          </a:bodyPr>
          <a:lstStyle/>
          <a:p>
            <a:pPr algn="l">
              <a:lnSpc>
                <a:spcPts val="3050"/>
              </a:lnSpc>
            </a:pPr>
            <a:r>
              <a:rPr lang="en-US" sz="2563">
                <a:solidFill>
                  <a:srgbClr val="EECACA"/>
                </a:solidFill>
                <a:latin typeface="Shrikhand"/>
                <a:ea typeface="Shrikhand"/>
                <a:cs typeface="Shrikhand"/>
                <a:sym typeface="Shrikhand"/>
              </a:rPr>
              <a:t>DATABASE</a:t>
            </a:r>
          </a:p>
        </p:txBody>
      </p:sp>
      <p:sp>
        <p:nvSpPr>
          <p:cNvPr name="TextBox 13" id="13"/>
          <p:cNvSpPr txBox="true"/>
          <p:nvPr/>
        </p:nvSpPr>
        <p:spPr>
          <a:xfrm rot="0">
            <a:off x="6416505" y="6386745"/>
            <a:ext cx="8185083" cy="431841"/>
          </a:xfrm>
          <a:prstGeom prst="rect">
            <a:avLst/>
          </a:prstGeom>
        </p:spPr>
        <p:txBody>
          <a:bodyPr anchor="t" rtlCol="false" tIns="0" lIns="0" bIns="0" rIns="0">
            <a:spAutoFit/>
          </a:bodyPr>
          <a:lstStyle/>
          <a:p>
            <a:pPr algn="l">
              <a:lnSpc>
                <a:spcPts val="3050"/>
              </a:lnSpc>
            </a:pPr>
            <a:r>
              <a:rPr lang="en-US" sz="2563">
                <a:solidFill>
                  <a:srgbClr val="EECACA"/>
                </a:solidFill>
                <a:latin typeface="Times New Roman"/>
                <a:ea typeface="Times New Roman"/>
                <a:cs typeface="Times New Roman"/>
                <a:sym typeface="Times New Roman"/>
              </a:rPr>
              <a:t>SHREYA ,SUNANDA</a:t>
            </a:r>
          </a:p>
        </p:txBody>
      </p:sp>
      <p:sp>
        <p:nvSpPr>
          <p:cNvPr name="Freeform 14" id="14"/>
          <p:cNvSpPr/>
          <p:nvPr/>
        </p:nvSpPr>
        <p:spPr>
          <a:xfrm flipH="false" flipV="false" rot="0">
            <a:off x="4754114" y="7390188"/>
            <a:ext cx="7315200" cy="1484692"/>
          </a:xfrm>
          <a:custGeom>
            <a:avLst/>
            <a:gdLst/>
            <a:ahLst/>
            <a:cxnLst/>
            <a:rect r="r" b="b" t="t" l="l"/>
            <a:pathLst>
              <a:path h="1484692" w="7315200">
                <a:moveTo>
                  <a:pt x="0" y="0"/>
                </a:moveTo>
                <a:lnTo>
                  <a:pt x="7315200" y="0"/>
                </a:lnTo>
                <a:lnTo>
                  <a:pt x="7315200" y="1484692"/>
                </a:lnTo>
                <a:lnTo>
                  <a:pt x="0" y="14846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5317527" y="7596872"/>
            <a:ext cx="8185083" cy="374691"/>
          </a:xfrm>
          <a:prstGeom prst="rect">
            <a:avLst/>
          </a:prstGeom>
        </p:spPr>
        <p:txBody>
          <a:bodyPr anchor="t" rtlCol="false" tIns="0" lIns="0" bIns="0" rIns="0">
            <a:spAutoFit/>
          </a:bodyPr>
          <a:lstStyle/>
          <a:p>
            <a:pPr algn="l">
              <a:lnSpc>
                <a:spcPts val="3050"/>
              </a:lnSpc>
            </a:pPr>
            <a:r>
              <a:rPr lang="en-US" sz="2563">
                <a:solidFill>
                  <a:srgbClr val="EECACA"/>
                </a:solidFill>
                <a:latin typeface="Shrikhand"/>
                <a:ea typeface="Shrikhand"/>
                <a:cs typeface="Shrikhand"/>
                <a:sym typeface="Shrikhand"/>
              </a:rPr>
              <a:t>DOCUMENTATION</a:t>
            </a:r>
          </a:p>
        </p:txBody>
      </p:sp>
      <p:sp>
        <p:nvSpPr>
          <p:cNvPr name="TextBox 16" id="16"/>
          <p:cNvSpPr txBox="true"/>
          <p:nvPr/>
        </p:nvSpPr>
        <p:spPr>
          <a:xfrm rot="0">
            <a:off x="6416505" y="8084909"/>
            <a:ext cx="8185083" cy="431841"/>
          </a:xfrm>
          <a:prstGeom prst="rect">
            <a:avLst/>
          </a:prstGeom>
        </p:spPr>
        <p:txBody>
          <a:bodyPr anchor="t" rtlCol="false" tIns="0" lIns="0" bIns="0" rIns="0">
            <a:spAutoFit/>
          </a:bodyPr>
          <a:lstStyle/>
          <a:p>
            <a:pPr algn="l">
              <a:lnSpc>
                <a:spcPts val="3050"/>
              </a:lnSpc>
            </a:pPr>
            <a:r>
              <a:rPr lang="en-US" sz="2563">
                <a:solidFill>
                  <a:srgbClr val="EECACA"/>
                </a:solidFill>
                <a:latin typeface="Times New Roman"/>
                <a:ea typeface="Times New Roman"/>
                <a:cs typeface="Times New Roman"/>
                <a:sym typeface="Times New Roman"/>
              </a:rPr>
              <a:t>HARSHITHA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CACA"/>
        </a:solidFill>
      </p:bgPr>
    </p:bg>
    <p:spTree>
      <p:nvGrpSpPr>
        <p:cNvPr id="1" name=""/>
        <p:cNvGrpSpPr/>
        <p:nvPr/>
      </p:nvGrpSpPr>
      <p:grpSpPr>
        <a:xfrm>
          <a:off x="0" y="0"/>
          <a:ext cx="0" cy="0"/>
          <a:chOff x="0" y="0"/>
          <a:chExt cx="0" cy="0"/>
        </a:xfrm>
      </p:grpSpPr>
      <p:grpSp>
        <p:nvGrpSpPr>
          <p:cNvPr name="Group 2" id="2"/>
          <p:cNvGrpSpPr/>
          <p:nvPr/>
        </p:nvGrpSpPr>
        <p:grpSpPr>
          <a:xfrm rot="0">
            <a:off x="4314825" y="314325"/>
            <a:ext cx="9658350" cy="96583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5DA8"/>
            </a:solidFill>
          </p:spPr>
        </p:sp>
        <p:sp>
          <p:nvSpPr>
            <p:cNvPr name="TextBox 4" id="4"/>
            <p:cNvSpPr txBox="true"/>
            <p:nvPr/>
          </p:nvSpPr>
          <p:spPr>
            <a:xfrm>
              <a:off x="76200" y="104775"/>
              <a:ext cx="660400" cy="631825"/>
            </a:xfrm>
            <a:prstGeom prst="rect">
              <a:avLst/>
            </a:prstGeom>
          </p:spPr>
          <p:txBody>
            <a:bodyPr anchor="ctr" rtlCol="false" tIns="50800" lIns="50800" bIns="50800" rIns="50800"/>
            <a:lstStyle/>
            <a:p>
              <a:pPr algn="ctr">
                <a:lnSpc>
                  <a:spcPts val="1563"/>
                </a:lnSpc>
              </a:pPr>
            </a:p>
          </p:txBody>
        </p:sp>
      </p:grpSp>
      <p:sp>
        <p:nvSpPr>
          <p:cNvPr name="Freeform 5" id="5"/>
          <p:cNvSpPr/>
          <p:nvPr/>
        </p:nvSpPr>
        <p:spPr>
          <a:xfrm flipH="false" flipV="false" rot="0">
            <a:off x="17259300" y="801623"/>
            <a:ext cx="486295" cy="4114800"/>
          </a:xfrm>
          <a:custGeom>
            <a:avLst/>
            <a:gdLst/>
            <a:ahLst/>
            <a:cxnLst/>
            <a:rect r="r" b="b" t="t" l="l"/>
            <a:pathLst>
              <a:path h="4114800" w="486295">
                <a:moveTo>
                  <a:pt x="0" y="0"/>
                </a:moveTo>
                <a:lnTo>
                  <a:pt x="486295" y="0"/>
                </a:lnTo>
                <a:lnTo>
                  <a:pt x="48629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413226" y="7387072"/>
            <a:ext cx="1050143" cy="1698492"/>
          </a:xfrm>
          <a:custGeom>
            <a:avLst/>
            <a:gdLst/>
            <a:ahLst/>
            <a:cxnLst/>
            <a:rect r="r" b="b" t="t" l="l"/>
            <a:pathLst>
              <a:path h="1698492" w="1050143">
                <a:moveTo>
                  <a:pt x="0" y="0"/>
                </a:moveTo>
                <a:lnTo>
                  <a:pt x="1050143" y="0"/>
                </a:lnTo>
                <a:lnTo>
                  <a:pt x="1050143" y="1698492"/>
                </a:lnTo>
                <a:lnTo>
                  <a:pt x="0" y="16984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94066" y="5637552"/>
            <a:ext cx="486295" cy="4114800"/>
          </a:xfrm>
          <a:custGeom>
            <a:avLst/>
            <a:gdLst/>
            <a:ahLst/>
            <a:cxnLst/>
            <a:rect r="r" b="b" t="t" l="l"/>
            <a:pathLst>
              <a:path h="4114800" w="486295">
                <a:moveTo>
                  <a:pt x="0" y="0"/>
                </a:moveTo>
                <a:lnTo>
                  <a:pt x="486295" y="0"/>
                </a:lnTo>
                <a:lnTo>
                  <a:pt x="48629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21443" y="7387072"/>
            <a:ext cx="1050143" cy="1698492"/>
          </a:xfrm>
          <a:custGeom>
            <a:avLst/>
            <a:gdLst/>
            <a:ahLst/>
            <a:cxnLst/>
            <a:rect r="r" b="b" t="t" l="l"/>
            <a:pathLst>
              <a:path h="1698492" w="1050143">
                <a:moveTo>
                  <a:pt x="1050143" y="0"/>
                </a:moveTo>
                <a:lnTo>
                  <a:pt x="0" y="0"/>
                </a:lnTo>
                <a:lnTo>
                  <a:pt x="0" y="1698492"/>
                </a:lnTo>
                <a:lnTo>
                  <a:pt x="1050143" y="1698492"/>
                </a:lnTo>
                <a:lnTo>
                  <a:pt x="1050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6155408" y="3089385"/>
            <a:ext cx="5977184" cy="4432079"/>
          </a:xfrm>
          <a:prstGeom prst="rect">
            <a:avLst/>
          </a:prstGeom>
        </p:spPr>
        <p:txBody>
          <a:bodyPr anchor="t" rtlCol="false" tIns="0" lIns="0" bIns="0" rIns="0">
            <a:spAutoFit/>
          </a:bodyPr>
          <a:lstStyle/>
          <a:p>
            <a:pPr algn="ctr">
              <a:lnSpc>
                <a:spcPts val="17112"/>
              </a:lnSpc>
            </a:pPr>
            <a:r>
              <a:rPr lang="en-US" sz="17112">
                <a:solidFill>
                  <a:srgbClr val="FFFFFF"/>
                </a:solidFill>
                <a:latin typeface="Anton"/>
                <a:ea typeface="Anton"/>
                <a:cs typeface="Anton"/>
                <a:sym typeface="Anton"/>
              </a:rPr>
              <a:t>THANK YOU!</a:t>
            </a:r>
          </a:p>
        </p:txBody>
      </p:sp>
      <p:sp>
        <p:nvSpPr>
          <p:cNvPr name="Freeform 10" id="10"/>
          <p:cNvSpPr/>
          <p:nvPr/>
        </p:nvSpPr>
        <p:spPr>
          <a:xfrm flipH="false" flipV="false" rot="0">
            <a:off x="-501805" y="904557"/>
            <a:ext cx="3896378" cy="2128010"/>
          </a:xfrm>
          <a:custGeom>
            <a:avLst/>
            <a:gdLst/>
            <a:ahLst/>
            <a:cxnLst/>
            <a:rect r="r" b="b" t="t" l="l"/>
            <a:pathLst>
              <a:path h="2128010" w="3896378">
                <a:moveTo>
                  <a:pt x="0" y="0"/>
                </a:moveTo>
                <a:lnTo>
                  <a:pt x="3896378" y="0"/>
                </a:lnTo>
                <a:lnTo>
                  <a:pt x="3896378" y="2128011"/>
                </a:lnTo>
                <a:lnTo>
                  <a:pt x="0" y="21280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566992" y="5259062"/>
            <a:ext cx="3896378" cy="2128010"/>
          </a:xfrm>
          <a:custGeom>
            <a:avLst/>
            <a:gdLst/>
            <a:ahLst/>
            <a:cxnLst/>
            <a:rect r="r" b="b" t="t" l="l"/>
            <a:pathLst>
              <a:path h="2128010" w="3896378">
                <a:moveTo>
                  <a:pt x="0" y="0"/>
                </a:moveTo>
                <a:lnTo>
                  <a:pt x="3896377" y="0"/>
                </a:lnTo>
                <a:lnTo>
                  <a:pt x="3896377" y="2128010"/>
                </a:lnTo>
                <a:lnTo>
                  <a:pt x="0" y="21280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7744436" y="8237982"/>
            <a:ext cx="2547340" cy="153002"/>
          </a:xfrm>
          <a:prstGeom prst="rect">
            <a:avLst/>
          </a:prstGeom>
        </p:spPr>
        <p:txBody>
          <a:bodyPr anchor="t" rtlCol="false" tIns="0" lIns="0" bIns="0" rIns="0">
            <a:spAutoFit/>
          </a:bodyPr>
          <a:lstStyle/>
          <a:p>
            <a:pPr algn="l">
              <a:lnSpc>
                <a:spcPts val="1149"/>
              </a:lnSpc>
              <a:spcBef>
                <a:spcPct val="0"/>
              </a:spcBef>
            </a:pPr>
            <a:r>
              <a:rPr lang="en-US" b="true" sz="1149">
                <a:solidFill>
                  <a:srgbClr val="5555AB"/>
                </a:solidFill>
                <a:latin typeface="Montserrat Bold"/>
                <a:ea typeface="Montserrat Bold"/>
                <a:cs typeface="Montserrat Bold"/>
                <a:sym typeface="Montserrat Bold"/>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DAGezgxkDiE</dc:identifier>
  <dcterms:modified xsi:type="dcterms:W3CDTF">2011-08-01T06:04:30Z</dcterms:modified>
  <cp:revision>1</cp:revision>
  <dc:title>KLH Lost and found app</dc:title>
</cp:coreProperties>
</file>